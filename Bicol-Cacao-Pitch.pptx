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Days to sellable product</c:v>
                </c:pt>
              </c:strCache>
            </c:strRef>
          </c:tx>
          <c:spPr>
            <a:solidFill>
              <a:srgbClr val="B85C38"/>
            </a:solidFill>
            <a:effectLst/>
          </c:spPr>
          <c:invertIfNegative val="0"/>
          <c:dLbls>
            <c:numFmt formatCode="#,##0" sourceLinked="0"/>
            <c:txPr>
              <a:bodyPr/>
              <a:lstStyle/>
              <a:p>
                <a:pPr>
                  <a:defRPr b="1" i="0" strike="noStrike" sz="1300" u="none">
                    <a:solidFill>
                      <a:srgbClr val="3D2B1F"/>
                    </a:solidFill>
                    <a:latin typeface="Arial"/>
                  </a:defRPr>
                </a:pPr>
              </a:p>
            </c:txPr>
            <c:showLegendKey val="0"/>
            <c:showVal val="1"/>
            <c:showCatName val="0"/>
            <c:showSerName val="0"/>
            <c:showPercent val="0"/>
            <c:showBubbleSize val="0"/>
            <c:showLeaderLines val="0"/>
          </c:dLbls>
          <c:dPt>
            <c:idx val="0"/>
            <c:invertIfNegative val="0"/>
            <c:bubble3D val="0"/>
            <c:spPr>
              <a:solidFill>
                <a:srgbClr val="B85C38"/>
              </a:solidFill>
              <a:effectLst/>
            </c:spPr>
          </c:dPt>
          <c:dPt>
            <c:idx val="1"/>
            <c:invertIfNegative val="0"/>
            <c:bubble3D val="0"/>
            <c:spPr>
              <a:solidFill>
                <a:srgbClr val="D9A441"/>
              </a:solidFill>
              <a:effectLst/>
            </c:spPr>
          </c:dPt>
          <c:cat>
            <c:multiLvlStrRef>
              <c:f>Sheet1!$A$2:$A$3</c:f>
              <c:multiLvlStrCache>
                <c:ptCount val="2"/>
                <c:lvl>
                  <c:pt idx="0">
                    <c:v>Direct to roast</c:v>
                  </c:pt>
                  <c:pt idx="1">
                    <c:v>Stored first</c:v>
                  </c:pt>
                </c:lvl>
              </c:multiLvlStrCache>
            </c:multiLvlStrRef>
          </c:cat>
          <c:val>
            <c:numRef>
              <c:f>Sheet1!$B$2:$B$3</c:f>
              <c:numCache>
                <c:formatCode>General</c:formatCode>
                <c:ptCount val="2"/>
                <c:pt idx="0">
                  <c:v>191</c:v>
                </c:pt>
                <c:pt idx="1">
                  <c:v>326</c:v>
                </c:pt>
              </c:numCache>
            </c:numRef>
          </c:val>
        </c:ser>
        <c:dLbls>
          <c:numFmt formatCode="#,##0" sourceLinked="0"/>
          <c:txPr>
            <a:bodyPr/>
            <a:lstStyle/>
            <a:p>
              <a:pPr>
                <a:defRPr b="1" i="0" strike="noStrike" sz="1300" u="none">
                  <a:solidFill>
                    <a:srgbClr val="3D2B1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574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DCD1"/>
              </a:solidFill>
              <a:prstDash val="solid"/>
              <a:round/>
            </a:ln>
          </c:spPr>
        </c:majorGridlines>
        <c:title>
          <c:tx>
            <c:rich>
              <a:bodyPr/>
              <a:lstStyle/>
              <a:p>
                <a:pPr>
                  <a:defRPr sz="1000" b="0" i="0" u="none" strike="noStrike">
                    <a:solidFill>
                      <a:srgbClr val="6B5745"/>
                    </a:solidFill>
                    <a:latin typeface="Arial"/>
                  </a:defRPr>
                </a:pPr>
                <a:r>
                  <a:rPr sz="1000" b="0" i="0" u="none" strike="noStrike">
                    <a:solidFill>
                      <a:srgbClr val="6B5745"/>
                    </a:solidFill>
                    <a:latin typeface="Arial"/>
                  </a:rPr>
                  <a:t>Days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574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D2B1F"/>
                </a:solidFill>
                <a:latin typeface="Arial"/>
              </a:defRPr>
            </a:pPr>
            <a:r>
              <a:rPr sz="1200" b="0" i="0" u="none" strike="noStrike">
                <a:solidFill>
                  <a:srgbClr val="3D2B1F"/>
                </a:solidFill>
                <a:latin typeface="Arial"/>
              </a:rPr>
              <a:t>Post-harvest loss, by cause (%)</a:t>
            </a:r>
          </a:p>
        </c:rich>
      </c:tx>
      <c:layout/>
      <c:overlay val="0"/>
    </c:title>
    <c:autoTitleDeleted val="0"/>
    <c:plotArea>
      <c:layout/>
      <c:barChart>
        <c:barDir val="col"/>
        <c:grouping val="clustered"/>
        <c:varyColors val="0"/>
        <c:ser>
          <c:idx val="0"/>
          <c:order val="0"/>
          <c:tx>
            <c:strRef>
              <c:f>Sheet1!$B$1</c:f>
              <c:strCache>
                <c:ptCount val="1"/>
                <c:pt idx="0">
                  <c:v>Loss</c:v>
                </c:pt>
              </c:strCache>
            </c:strRef>
          </c:tx>
          <c:spPr>
            <a:solidFill>
              <a:srgbClr val="D9A441"/>
            </a:solidFill>
            <a:effectLst/>
          </c:spPr>
          <c:invertIfNegative val="0"/>
          <c:dLbls>
            <c:numFmt formatCode="#,##0" sourceLinked="0"/>
            <c:txPr>
              <a:bodyPr/>
              <a:lstStyle/>
              <a:p>
                <a:pPr>
                  <a:defRPr b="1" i="0" strike="noStrike" sz="1000" u="none">
                    <a:solidFill>
                      <a:srgbClr val="3D2B1F"/>
                    </a:solidFill>
                    <a:latin typeface="Arial"/>
                  </a:defRPr>
                </a:pPr>
              </a:p>
            </c:txPr>
            <c:showLegendKey val="0"/>
            <c:showVal val="1"/>
            <c:showCatName val="0"/>
            <c:showSerName val="0"/>
            <c:showPercent val="0"/>
            <c:showBubbleSize val="0"/>
            <c:showLeaderLines val="0"/>
          </c:dLbls>
          <c:dPt>
            <c:idx val="0"/>
            <c:invertIfNegative val="0"/>
            <c:bubble3D val="0"/>
            <c:spPr>
              <a:solidFill>
                <a:srgbClr val="D9A441"/>
              </a:solidFill>
              <a:effectLst/>
            </c:spPr>
          </c:dPt>
          <c:dPt>
            <c:idx val="1"/>
            <c:invertIfNegative val="0"/>
            <c:bubble3D val="0"/>
            <c:spPr>
              <a:solidFill>
                <a:srgbClr val="B85C38"/>
              </a:solidFill>
              <a:effectLst/>
            </c:spPr>
          </c:dPt>
          <c:dPt>
            <c:idx val="2"/>
            <c:invertIfNegative val="0"/>
            <c:bubble3D val="0"/>
            <c:spPr>
              <a:solidFill>
                <a:srgbClr val="8C3B2E"/>
              </a:solidFill>
              <a:effectLst/>
            </c:spPr>
          </c:dPt>
          <c:cat>
            <c:multiLvlStrRef>
              <c:f>Sheet1!$A$2:$A$4</c:f>
              <c:multiLvlStrCache>
                <c:ptCount val="3"/>
                <c:lvl>
                  <c:pt idx="0">
                    <c:v>Handling</c:v>
                  </c:pt>
                  <c:pt idx="1">
                    <c:v>Pests/disease</c:v>
                  </c:pt>
                  <c:pt idx="2">
                    <c:v>Typhoon</c:v>
                  </c:pt>
                </c:lvl>
              </c:multiLvlStrCache>
            </c:multiLvlStrRef>
          </c:cat>
          <c:val>
            <c:numRef>
              <c:f>Sheet1!$B$2:$B$4</c:f>
              <c:numCache>
                <c:formatCode>General</c:formatCode>
                <c:ptCount val="3"/>
                <c:pt idx="0">
                  <c:v>60</c:v>
                </c:pt>
                <c:pt idx="1">
                  <c:v>90</c:v>
                </c:pt>
                <c:pt idx="2">
                  <c:v>100</c:v>
                </c:pt>
              </c:numCache>
            </c:numRef>
          </c:val>
        </c:ser>
        <c:dLbls>
          <c:numFmt formatCode="#,##0" sourceLinked="0"/>
          <c:txPr>
            <a:bodyPr/>
            <a:lstStyle/>
            <a:p>
              <a:pPr>
                <a:defRPr b="1" i="0" strike="noStrike" sz="1000" u="none">
                  <a:solidFill>
                    <a:srgbClr val="3D2B1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5745"/>
                </a:solidFill>
                <a:latin typeface="Arial"/>
              </a:defRPr>
            </a:pPr>
            <a:endParaRPr lang="en-US"/>
          </a:p>
        </c:txPr>
        <c:crossAx val="2094734552"/>
        <c:crosses val="autoZero"/>
        <c:auto val="1"/>
        <c:lblAlgn val="ctr"/>
        <c:noMultiLvlLbl val="1"/>
      </c:catAx>
      <c:valAx>
        <c:axId val="2094734552"/>
        <c:scaling>
          <c:orientation val="minMax"/>
          <c:max val="110"/>
        </c:scaling>
        <c:delete val="0"/>
        <c:axPos val="l"/>
        <c:majorGridlines>
          <c:spPr>
            <a:ln w="12700" cap="flat">
              <a:solidFill>
                <a:srgbClr val="E4DCD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574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D2B1F"/>
                </a:solidFill>
                <a:latin typeface="Arial"/>
              </a:defRPr>
            </a:pPr>
            <a:r>
              <a:rPr sz="1200" b="0" i="0" u="none" strike="noStrike">
                <a:solidFill>
                  <a:srgbClr val="3D2B1F"/>
                </a:solidFill>
                <a:latin typeface="Arial"/>
              </a:rPr>
              <a:t>Tatay's cacao yield (kg/yr)</a:t>
            </a:r>
          </a:p>
        </c:rich>
      </c:tx>
      <c:layout/>
      <c:overlay val="0"/>
    </c:title>
    <c:autoTitleDeleted val="0"/>
    <c:plotArea>
      <c:layout/>
      <c:barChart>
        <c:barDir val="col"/>
        <c:grouping val="clustered"/>
        <c:varyColors val="0"/>
        <c:ser>
          <c:idx val="0"/>
          <c:order val="0"/>
          <c:tx>
            <c:strRef>
              <c:f>Sheet1!$B$1</c:f>
              <c:strCache>
                <c:ptCount val="1"/>
                <c:pt idx="0">
                  <c:v>Yield</c:v>
                </c:pt>
              </c:strCache>
            </c:strRef>
          </c:tx>
          <c:spPr>
            <a:solidFill>
              <a:srgbClr val="8C3B2E"/>
            </a:solidFill>
            <a:effectLst/>
          </c:spPr>
          <c:invertIfNegative val="0"/>
          <c:dLbls>
            <c:numFmt formatCode="#,##0" sourceLinked="0"/>
            <c:txPr>
              <a:bodyPr/>
              <a:lstStyle/>
              <a:p>
                <a:pPr>
                  <a:defRPr b="1" i="0" strike="noStrike" sz="1000" u="none">
                    <a:solidFill>
                      <a:srgbClr val="3D2B1F"/>
                    </a:solidFill>
                    <a:latin typeface="Arial"/>
                  </a:defRPr>
                </a:pPr>
              </a:p>
            </c:txPr>
            <c:showLegendKey val="0"/>
            <c:showVal val="1"/>
            <c:showCatName val="0"/>
            <c:showSerName val="0"/>
            <c:showPercent val="0"/>
            <c:showBubbleSize val="0"/>
            <c:showLeaderLines val="0"/>
          </c:dLbls>
          <c:dPt>
            <c:idx val="0"/>
            <c:invertIfNegative val="0"/>
            <c:bubble3D val="0"/>
            <c:spPr>
              <a:solidFill>
                <a:srgbClr val="8C3B2E"/>
              </a:solidFill>
              <a:effectLst/>
            </c:spPr>
          </c:dPt>
          <c:dPt>
            <c:idx val="1"/>
            <c:invertIfNegative val="0"/>
            <c:bubble3D val="0"/>
            <c:spPr>
              <a:solidFill>
                <a:srgbClr val="6B7A3D"/>
              </a:solidFill>
              <a:effectLst/>
            </c:spPr>
          </c:dPt>
          <c:cat>
            <c:multiLvlStrRef>
              <c:f>Sheet1!$A$2:$A$3</c:f>
              <c:multiLvlStrCache>
                <c:ptCount val="2"/>
                <c:lvl>
                  <c:pt idx="0">
                    <c:v>This season</c:v>
                  </c:pt>
                  <c:pt idx="1">
                    <c:v>Potential</c:v>
                  </c:pt>
                </c:lvl>
              </c:multiLvlStrCache>
            </c:multiLvlStrRef>
          </c:cat>
          <c:val>
            <c:numRef>
              <c:f>Sheet1!$B$2:$B$3</c:f>
              <c:numCache>
                <c:formatCode>General</c:formatCode>
                <c:ptCount val="2"/>
                <c:pt idx="0">
                  <c:v>0</c:v>
                </c:pt>
                <c:pt idx="1">
                  <c:v>2000</c:v>
                </c:pt>
              </c:numCache>
            </c:numRef>
          </c:val>
        </c:ser>
        <c:dLbls>
          <c:numFmt formatCode="#,##0" sourceLinked="0"/>
          <c:txPr>
            <a:bodyPr/>
            <a:lstStyle/>
            <a:p>
              <a:pPr>
                <a:defRPr b="1" i="0" strike="noStrike" sz="1000" u="none">
                  <a:solidFill>
                    <a:srgbClr val="3D2B1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574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DCD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574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D2B1F"/>
                </a:solidFill>
                <a:latin typeface="Arial"/>
              </a:defRPr>
            </a:pPr>
            <a:r>
              <a:rPr sz="1200" b="0" i="0" u="none" strike="noStrike">
                <a:solidFill>
                  <a:srgbClr val="3D2B1F"/>
                </a:solidFill>
                <a:latin typeface="Arial"/>
              </a:rPr>
              <a:t>Farmer income benchmarks (₱/mo)</a:t>
            </a:r>
          </a:p>
        </c:rich>
      </c:tx>
      <c:layout/>
      <c:overlay val="0"/>
    </c:title>
    <c:autoTitleDeleted val="0"/>
    <c:plotArea>
      <c:layout/>
      <c:barChart>
        <c:barDir val="col"/>
        <c:grouping val="clustered"/>
        <c:varyColors val="0"/>
        <c:ser>
          <c:idx val="0"/>
          <c:order val="0"/>
          <c:tx>
            <c:strRef>
              <c:f>Sheet1!$B$1</c:f>
              <c:strCache>
                <c:ptCount val="1"/>
                <c:pt idx="0">
                  <c:v>Monthly income</c:v>
                </c:pt>
              </c:strCache>
            </c:strRef>
          </c:tx>
          <c:spPr>
            <a:solidFill>
              <a:srgbClr val="B85C38"/>
            </a:solidFill>
            <a:effectLst/>
          </c:spPr>
          <c:invertIfNegative val="0"/>
          <c:dLbls>
            <c:numFmt formatCode="#,##0" sourceLinked="0"/>
            <c:txPr>
              <a:bodyPr/>
              <a:lstStyle/>
              <a:p>
                <a:pPr>
                  <a:defRPr b="1" i="0" strike="noStrike" sz="1000" u="none">
                    <a:solidFill>
                      <a:srgbClr val="3D2B1F"/>
                    </a:solidFill>
                    <a:latin typeface="Arial"/>
                  </a:defRPr>
                </a:pPr>
              </a:p>
            </c:txPr>
            <c:showLegendKey val="0"/>
            <c:showVal val="1"/>
            <c:showCatName val="0"/>
            <c:showSerName val="0"/>
            <c:showPercent val="0"/>
            <c:showBubbleSize val="0"/>
            <c:showLeaderLines val="0"/>
          </c:dLbls>
          <c:cat>
            <c:multiLvlStrRef>
              <c:f>Sheet1!$A$2:$A$4</c:f>
              <c:multiLvlStrCache>
                <c:ptCount val="3"/>
                <c:lvl>
                  <c:pt idx="0">
                    <c:v>Low ref.</c:v>
                  </c:pt>
                  <c:pt idx="1">
                    <c:v>Example</c:v>
                  </c:pt>
                  <c:pt idx="2">
                    <c:v>“Low” ceiling</c:v>
                  </c:pt>
                </c:lvl>
              </c:multiLvlStrCache>
            </c:multiLvlStrRef>
          </c:cat>
          <c:val>
            <c:numRef>
              <c:f>Sheet1!$B$2:$B$4</c:f>
              <c:numCache>
                <c:formatCode>General</c:formatCode>
                <c:ptCount val="3"/>
                <c:pt idx="0">
                  <c:v>2000</c:v>
                </c:pt>
                <c:pt idx="1">
                  <c:v>5000</c:v>
                </c:pt>
                <c:pt idx="2">
                  <c:v>10000</c:v>
                </c:pt>
              </c:numCache>
            </c:numRef>
          </c:val>
        </c:ser>
        <c:dLbls>
          <c:numFmt formatCode="#,##0" sourceLinked="0"/>
          <c:txPr>
            <a:bodyPr/>
            <a:lstStyle/>
            <a:p>
              <a:pPr>
                <a:defRPr b="1" i="0" strike="noStrike" sz="1000" u="none">
                  <a:solidFill>
                    <a:srgbClr val="3D2B1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574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DCD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574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3D2B1F"/>
                </a:solidFill>
                <a:latin typeface="Arial"/>
              </a:defRPr>
            </a:pPr>
            <a:r>
              <a:rPr sz="1150" b="0" i="0" u="none" strike="noStrike">
                <a:solidFill>
                  <a:srgbClr val="3D2B1F"/>
                </a:solidFill>
                <a:latin typeface="Arial"/>
              </a:rPr>
              <a:t>Panel efficiency, 30-yr lifespan</a:t>
            </a:r>
          </a:p>
        </c:rich>
      </c:tx>
      <c:layout/>
      <c:overlay val="0"/>
    </c:title>
    <c:autoTitleDeleted val="0"/>
    <c:plotArea>
      <c:layout/>
      <c:lineChart>
        <c:varyColors val="0"/>
        <c:ser>
          <c:idx val="0"/>
          <c:order val="0"/>
          <c:tx>
            <c:strRef>
              <c:f>Sheet1!$B$1</c:f>
              <c:strCache>
                <c:ptCount val="1"/>
                <c:pt idx="0">
                  <c:v>Panel efficiency</c:v>
                </c:pt>
              </c:strCache>
            </c:strRef>
          </c:tx>
          <c:spPr>
            <a:solidFill>
              <a:srgbClr val="B85C38"/>
            </a:solidFill>
            <a:ln w="31750" cap="flat">
              <a:solidFill>
                <a:srgbClr val="B85C3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85C38"/>
              </a:solidFill>
              <a:ln w="9525" cap="flat">
                <a:solidFill>
                  <a:srgbClr val="B85C38"/>
                </a:solidFill>
                <a:prstDash val="solid"/>
                <a:round/>
              </a:ln>
              <a:effectLst/>
            </c:spPr>
          </c:marker>
          <c:cat>
            <c:multiLvlStrRef>
              <c:f>Sheet1!$A$2:$A$8</c:f>
              <c:multiLvlStrCache>
                <c:ptCount val="7"/>
                <c:lvl>
                  <c:pt idx="0">
                    <c:v>Yr 0</c:v>
                  </c:pt>
                  <c:pt idx="1">
                    <c:v>Yr 5</c:v>
                  </c:pt>
                  <c:pt idx="2">
                    <c:v>Yr 10</c:v>
                  </c:pt>
                  <c:pt idx="3">
                    <c:v>Yr 15</c:v>
                  </c:pt>
                  <c:pt idx="4">
                    <c:v>Yr 20</c:v>
                  </c:pt>
                  <c:pt idx="5">
                    <c:v>Yr 25</c:v>
                  </c:pt>
                  <c:pt idx="6">
                    <c:v>Yr 30</c:v>
                  </c:pt>
                </c:lvl>
              </c:multiLvlStrCache>
            </c:multiLvlStrRef>
          </c:cat>
          <c:val>
            <c:numRef>
              <c:f>Sheet1!$B$2:$B$8</c:f>
              <c:numCache>
                <c:formatCode>General</c:formatCode>
                <c:ptCount val="7"/>
                <c:pt idx="0">
                  <c:v>100</c:v>
                </c:pt>
                <c:pt idx="1">
                  <c:v>97.1</c:v>
                </c:pt>
                <c:pt idx="2">
                  <c:v>94.2</c:v>
                </c:pt>
                <c:pt idx="3">
                  <c:v>91.2</c:v>
                </c:pt>
                <c:pt idx="4">
                  <c:v>88.3</c:v>
                </c:pt>
                <c:pt idx="5">
                  <c:v>85.4</c:v>
                </c:pt>
                <c:pt idx="6">
                  <c:v>82.5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5745"/>
                </a:solidFill>
                <a:latin typeface="Arial"/>
              </a:defRPr>
            </a:pPr>
            <a:endParaRPr lang="en-US"/>
          </a:p>
        </c:txPr>
        <c:crossAx val="2094734552"/>
        <c:crosses val="autoZero"/>
        <c:auto val="1"/>
        <c:lblAlgn val="ctr"/>
        <c:noMultiLvlLbl val="1"/>
      </c:catAx>
      <c:valAx>
        <c:axId val="2094734552"/>
        <c:scaling>
          <c:orientation val="minMax"/>
          <c:max val="100"/>
          <c:min val="75"/>
        </c:scaling>
        <c:delete val="0"/>
        <c:axPos val="l"/>
        <c:majorGridlines>
          <c:spPr>
            <a:ln w="12700" cap="flat">
              <a:solidFill>
                <a:srgbClr val="E4DCD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574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3D2B1F"/>
                </a:solidFill>
                <a:latin typeface="Arial"/>
              </a:defRPr>
            </a:pPr>
            <a:r>
              <a:rPr sz="1150" b="0" i="0" u="none" strike="noStrike">
                <a:solidFill>
                  <a:srgbClr val="3D2B1F"/>
                </a:solidFill>
                <a:latin typeface="Arial"/>
              </a:rPr>
              <a:t>Panel waste, by weight</a:t>
            </a:r>
          </a:p>
        </c:rich>
      </c:tx>
      <c:layout/>
      <c:overlay val="0"/>
    </c:title>
    <c:autoTitleDeleted val="0"/>
    <c:plotArea>
      <c:layout/>
      <c:doughnutChart>
        <c:varyColors val="1"/>
        <c:ser>
          <c:idx val="0"/>
          <c:order val="0"/>
          <c:tx>
            <c:strRef>
              <c:f>Sheet1!$B$1</c:f>
              <c:strCache>
                <c:ptCount val="1"/>
                <c:pt idx="0">
                  <c:v>Waste</c:v>
                </c:pt>
              </c:strCache>
            </c:strRef>
          </c:tx>
          <c:spPr>
            <a:solidFill>
              <a:schemeClr val="accent1"/>
            </a:solidFill>
            <a:ln w="9525" cap="flat">
              <a:solidFill>
                <a:srgbClr val="F9F9F9"/>
              </a:solidFill>
              <a:prstDash val="solid"/>
              <a:round/>
            </a:ln>
            <a:effectLst/>
          </c:spPr>
          <c:dPt>
            <c:idx val="0"/>
            <c:bubble3D val="0"/>
            <c:spPr>
              <a:solidFill>
                <a:srgbClr val="2A78D6"/>
              </a:solidFill>
              <a:effectLst/>
            </c:spPr>
          </c:dPt>
          <c:dPt>
            <c:idx val="1"/>
            <c:bubble3D val="0"/>
            <c:spPr>
              <a:solidFill>
                <a:srgbClr val="EB6834"/>
              </a:solidFill>
              <a:effectLst/>
            </c:spPr>
          </c:dPt>
          <c:dPt>
            <c:idx val="2"/>
            <c:bubble3D val="0"/>
            <c:spPr>
              <a:solidFill>
                <a:srgbClr val="1BAF7A"/>
              </a:solidFill>
              <a:effectLst/>
            </c:spPr>
          </c:dPt>
          <c:dLbls>
            <c:dLbl>
              <c:idx val="0"/>
              <c:numFmt formatCode="0&quot;%&quot;"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Glass</c:v>
                </c:pt>
                <c:pt idx="1">
                  <c:v>Aluminum</c:v>
                </c:pt>
                <c:pt idx="2">
                  <c:v>Other electronics</c:v>
                </c:pt>
              </c:strCache>
            </c:strRef>
          </c:cat>
          <c:val>
            <c:numRef>
              <c:f>Sheet1!$B$2:$B$4</c:f>
              <c:numCache>
                <c:ptCount val="3"/>
                <c:pt idx="0">
                  <c:v>75</c:v>
                </c:pt>
                <c:pt idx="1">
                  <c:v>15</c:v>
                </c:pt>
                <c:pt idx="2">
                  <c:v>10</c:v>
                </c:pt>
              </c:numCache>
            </c:numRef>
          </c:val>
        </c:ser>
        <c:firstSliceAng val="0"/>
        <c:holeSize val="50"/>
      </c:doughnutChart>
      <c:spPr>
        <a:noFill/>
        <a:ln>
          <a:noFill/>
        </a:ln>
        <a:effectLst/>
      </c:spPr>
    </c:plotArea>
    <c:legend>
      <c:legendPos val="b"/>
      <c:overlay val="0"/>
      <c:txPr>
        <a:bodyPr/>
        <a:lstStyle/>
        <a:p>
          <a:pPr>
            <a:defRPr sz="900">
              <a:solidFill>
                <a:srgbClr val="6B5745"/>
              </a:solidFill>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3D2B1F"/>
                </a:solidFill>
                <a:latin typeface="Arial"/>
              </a:defRPr>
            </a:pPr>
            <a:r>
              <a:rPr sz="1150" b="0" i="0" u="none" strike="noStrike">
                <a:solidFill>
                  <a:srgbClr val="3D2B1F"/>
                </a:solidFill>
                <a:latin typeface="Arial"/>
              </a:rPr>
              <a:t>Orientation vs. relative yield (est.)</a:t>
            </a:r>
          </a:p>
        </c:rich>
      </c:tx>
      <c:layout/>
      <c:overlay val="0"/>
    </c:title>
    <c:autoTitleDeleted val="0"/>
    <c:plotArea>
      <c:layout/>
      <c:barChart>
        <c:barDir val="col"/>
        <c:grouping val="clustered"/>
        <c:varyColors val="0"/>
        <c:ser>
          <c:idx val="0"/>
          <c:order val="0"/>
          <c:tx>
            <c:strRef>
              <c:f>Sheet1!$B$1</c:f>
              <c:strCache>
                <c:ptCount val="1"/>
                <c:pt idx="0">
                  <c:v>Relative yield</c:v>
                </c:pt>
              </c:strCache>
            </c:strRef>
          </c:tx>
          <c:spPr>
            <a:solidFill>
              <a:srgbClr val="6B7A3D"/>
            </a:solidFill>
            <a:effectLst/>
          </c:spPr>
          <c:invertIfNegative val="0"/>
          <c:dLbls>
            <c:numFmt formatCode="#,##0" sourceLinked="0"/>
            <c:txPr>
              <a:bodyPr/>
              <a:lstStyle/>
              <a:p>
                <a:pPr>
                  <a:defRPr b="1" i="0" strike="noStrike" sz="1000" u="none">
                    <a:solidFill>
                      <a:srgbClr val="3D2B1F"/>
                    </a:solidFill>
                    <a:latin typeface="Arial"/>
                  </a:defRPr>
                </a:pPr>
              </a:p>
            </c:txPr>
            <c:showLegendKey val="0"/>
            <c:showVal val="1"/>
            <c:showCatName val="0"/>
            <c:showSerName val="0"/>
            <c:showPercent val="0"/>
            <c:showBubbleSize val="0"/>
            <c:showLeaderLines val="0"/>
          </c:dLbls>
          <c:dPt>
            <c:idx val="0"/>
            <c:invertIfNegative val="0"/>
            <c:bubble3D val="0"/>
            <c:spPr>
              <a:solidFill>
                <a:srgbClr val="6B7A3D"/>
              </a:solidFill>
              <a:effectLst/>
            </c:spPr>
          </c:dPt>
          <c:dPt>
            <c:idx val="1"/>
            <c:invertIfNegative val="0"/>
            <c:bubble3D val="0"/>
            <c:spPr>
              <a:solidFill>
                <a:srgbClr val="D9A441"/>
              </a:solidFill>
              <a:effectLst/>
            </c:spPr>
          </c:dPt>
          <c:dPt>
            <c:idx val="2"/>
            <c:invertIfNegative val="0"/>
            <c:bubble3D val="0"/>
            <c:spPr>
              <a:solidFill>
                <a:srgbClr val="8C3B2E"/>
              </a:solidFill>
              <a:effectLst/>
            </c:spPr>
          </c:dPt>
          <c:cat>
            <c:multiLvlStrRef>
              <c:f>Sheet1!$A$2:$A$4</c:f>
              <c:multiLvlStrCache>
                <c:ptCount val="3"/>
                <c:lvl>
                  <c:pt idx="0">
                    <c:v>Optimal tilt</c:v>
                  </c:pt>
                  <c:pt idx="1">
                    <c:v>Flat</c:v>
                  </c:pt>
                  <c:pt idx="2">
                    <c:v>Vertical</c:v>
                  </c:pt>
                </c:lvl>
              </c:multiLvlStrCache>
            </c:multiLvlStrRef>
          </c:cat>
          <c:val>
            <c:numRef>
              <c:f>Sheet1!$B$2:$B$4</c:f>
              <c:numCache>
                <c:formatCode>General</c:formatCode>
                <c:ptCount val="3"/>
                <c:pt idx="0">
                  <c:v>100</c:v>
                </c:pt>
                <c:pt idx="1">
                  <c:v>85</c:v>
                </c:pt>
                <c:pt idx="2">
                  <c:v>65</c:v>
                </c:pt>
              </c:numCache>
            </c:numRef>
          </c:val>
        </c:ser>
        <c:dLbls>
          <c:numFmt formatCode="#,##0" sourceLinked="0"/>
          <c:txPr>
            <a:bodyPr/>
            <a:lstStyle/>
            <a:p>
              <a:pPr>
                <a:defRPr b="1" i="0" strike="noStrike" sz="1000" u="none">
                  <a:solidFill>
                    <a:srgbClr val="3D2B1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5745"/>
                </a:solidFill>
                <a:latin typeface="Arial"/>
              </a:defRPr>
            </a:pPr>
            <a:endParaRPr lang="en-US"/>
          </a:p>
        </c:txPr>
        <c:crossAx val="2094734552"/>
        <c:crosses val="autoZero"/>
        <c:auto val="1"/>
        <c:lblAlgn val="ctr"/>
        <c:noMultiLvlLbl val="1"/>
      </c:catAx>
      <c:valAx>
        <c:axId val="2094734552"/>
        <c:scaling>
          <c:orientation val="minMax"/>
          <c:max val="110"/>
        </c:scaling>
        <c:delete val="0"/>
        <c:axPos val="l"/>
        <c:majorGridlines>
          <c:spPr>
            <a:ln w="12700" cap="flat">
              <a:solidFill>
                <a:srgbClr val="E4DCD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574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Nancy. Open energetically — you're setting the tone for the whole room. Say who we are and why we're credible: this isn't invented, it's built from real interviews with a cacao NGO (Muravah Foundation / Mayon Gold), a smallholder farmer (Tatay, Batbat), a processing facility, and site visits Aug 26-28 across Bicol. State the thesis out loud: 'every solution we propose already works somewhere in Bicol — our job is showing how to bring it to cacao.' Keep this slide under 30 seconds; the room should feel like real people did real fieldwork, not that this is a hypothetical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Ria. You're introducing the organization that hosted Day 1 — lean into your own Bicol/BU background here, it's authentic. Muravah Foundation (branded 'Mayon Gold') is a cacao NGO in Albay: cacao profits fund typhoon-proof homes and education scholarships. They grow heirloom native cacao interplanted with Pili and coconut (agroforestry), and are strictly organic — no synthetic fertilizers or pesticides, ever; that's a hard constraint on anything we propose later. They face a labor/succession gap (average farmer age ~50, no government training pipeline) and cope by recruiting students from BU Guinubatan — worth mentioning you study at Bicol University too, it's a nice authentic tie-in. They're running a production-cycle data study across 500–1,000 farmers already, and they are explicitly skeptical of AI/robotics ('not there yet,' 'AI is biased according to the natives') — that skepticism becomes important later when we present low-tech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Nancy. This is the stakes-setting slide — no solutions yet, just problems, stated plainly. Muravah names pest control as problem #1 overall, ahead of typhoon or transport. Post-harvest loss runs 80–100% from pests/disease network-wide (near 100% from typhoon in a bad year, but we're deliberately not focusing on typhoon — it's 'unpredictable', pests/disease is tractable). The processing facility told us it's 'sometimes out of supply for cacao' — a farmer's lost pods becomes a factory's lost production run, so this isn't just a farm problem. Separately, the facility's own #1 problem is power outages. Farmers earn ₱2,000–10,000/month and average ~50 years old, with no government succession-training program. Keep this human, not just statistical — you're the interview-synthesis voice on this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Masa. This is your first data slide — own the numbers. Muravah's stated production timeline: flowering to pod-ready takes 6 months, then ferment 6 days, solar-dry 1 day to a week, and roast 27 minutes at 140°C. The chart shows the two paths to a sellable product: processing immediately after drying gets you to day 191; storing dried beans 3–6 months before processing (a real risk — delay invites humidity damage) roughly doubles that to day 326. Also mention: the facility is undersized for their own batch volumes (pod-breaking up to 1,000 pods/hour at peak), 60% of pods are lost to careless handling (worse with Mayon ashfall), and — an important framing point — more labor doesn't raise profit here, because pest/disease pressure caps yield regardless of how much work goes in. That last point sets up why treating pests/disease is the highest-leverage fix, which is the through-line of the whole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Keisuke. This is a tradeoffs/constraints slide — your lane. Four points: (1) Muravah has no annual drought/flood prediction, so they sync planting to the monsoon and specifically seek out farmers who already have water access — a real infrastructure gap. (2) The farmer population is aging (~50 average) with no government training pipeline; Muravah's own workaround is recruiting students from BU Guinubatan. (3) A hard constraint: no synthetic fertilizers or pesticides, biopesticides/biofertilizers only — this rules out entire categories of 'obvious' agri-tech fixes before we even start. (4) Muravah is explicitly skeptical of AI and robotics — quote it directly: 'not there yet, other problems to solve,' and 'AI is biased according to the natives.' Frame this as a values position, not just a budget constraint — it's philosophically load-bearing for why every solution later in the deck is deliberately low-tech and human-in-the-loop.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Ria. This is an image-only slide by design — let the photos carry it, keep your narration short and personal. We visited Tatay's 2.5-hectare cacao farm in the Batbat area on August 26. He's a solo operator (his children work in the cities), 100% organic, and dealing with real health problems that limit how much labor-intensive work he can physically do himself. Set up the emotional stakes here in one or two sentences — the numbers come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Masa. Three charts, one farm. (1) Post-harvest loss by cause: 60% from careless handling, pests/disease reported as an 80–100% range (chart shows the midpoint, 90%, — say the real range out loud, don't just point at the number), typhoon near 100% in a bad year. (2) Tatay's own cacao yield: historically 500 kg/year, but currently near 0 kg due to pest/disease — his estimated potential if pests were resolved is 2,000 kg/year. Say this slowly: that's a 4x recovery, and it's the single largest lever in our entire dataset. (3) Farmer monthly income benchmarks Muravah cited: a ₱2,000 low reference, a ₱5,000 example farmer, and ₱10,000 named as a 'low' ceiling — context for how thin the margins are region-wide, not just for Tatay.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Ria. Image-only slide again — narrate briefly. August 27 we visited Tatay Aldavis's rice/dairy farm (a completely different farmer from Tatay in Batbat — same honorific, different person, worth clarifying if anyone's confused) which is thriving, government-supported, and runs an accredited farm school. They control pests with herbal sprays and ducks grazing on snails, though a chemical fallback exists. We also visited a bamboo farm (no problems reported except typhoon) and stingless-bee honey producers (honey, bee, and propolis — propolis being the most valuable, used medicinally). The throughline: these are proof that low-tech, organic pest control already works elsewhere in Bicol.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Ria. Third image-only slide. August 28 covered the Zambales solar farm and its agrivoltaics research (solar co-located with farming — irrigation, cold storage, fish hatcheries), the San Miguel Bay offshore wind project (a ₱170B+ regional renewable-energy investment), the Neonormal Agventure taro project, and a youth agritourism program aimed at getting young people interested in farming again. Make sure to say the words 'solar panels' here explicitly — the next slide builds directly on this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Masa. Three solar figures. (1) Panel efficiency degrades gradually over a 30-year lifespan — from 100% new to about 82.5% at year 30 (some owners replace panels early, at 10-15 years). (2) What a retired panel is actually made of: 75% glass, 15% aluminum, 10% other electronics/polymers — relevant to anyone's lifecycle cost math for a solar-powered irrigation proposal. (3) Panel orientation matters a lot: an optimally tilted panel is the 100% baseline, a flat panel gets about 85%, and a vertically mounted panel only about 65% — say clearly that this last chart is our own general engineering estimate, not a cited interview figure, since it sets up the callout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Keisuke. This is a short, standalone point — don't over-explain it, let it land. Mounting solar panels vertically is not the efficient way to collect sunlight; a wall-mounted panel captures noticeably less irradiance than an optimally tilted one (per the previous slide's chart: about 65% vs. 100%). Be upfront that this is the team's own engineering observation, not something a source told us in an interview — it's a design point worth carrying into any agrivoltaic or solar-irrigation proposal built on the Zambales precedent. The image on this slide is a placeholder for a comparison photo we don't have in our field notes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Nancy. This is the emotional low point of the deck, right before we pivot to solutions — take your time here. Pest and disease pressure, not typhoon, not transport, not land tenure, is what's driving Tatay's cacao yield to nearly zero. Because cacao flowers year-round, the pressure never lets up — there's no off-season where the farm gets a break. Name the disease agent if asked: Phytophthora, almost certainly Phytophthora palmivora, the classic cacao black pod disease; also birds, and a viral disease affecting pod production. Make this about Tatay as a person, not an abstract statistic, before we move into what we're proposing to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Chow only — this is the one slide that's entirely yours; no one else needs to study this in depth. Explain what you built and why: rather than eyeballing a drip-irrigation pilot for Tatay's farm, you built a working set of field tools — a drip-pressure planner sized to his real 2.5-hectare / 120-meter layout, a water-system schematic (gravity vs. pump modes), and an interactive schematic editor — so any water-resilience pilot for Tatay is calculated from his actual numbers, not guessed. Point the room at the GitHub repo (github.com/Abdullah-Nasir-Chowdhury/cacao-bicol-field-tools), which also holds the full field-notes reference and the interactive chart dashboard this deck draws its numbers from. Keep the framing tight: this is the concrete, checkable, technical contribution — invite people to actually open it later rather than trying to demo it live if time is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Keisuke. This is the payoff slide for 'adapt, don't invent.' Of 12 candidate pest/disease solutions we brainstormed, only 6 survived independent fact-checking against the actual interview data — say that filtering process out loud, it's a credibility point. They group into three approaches: monitoring &amp; routine discipline (3 — a cacao-adapted 15-day treatment calendar borrowed from the taro project's proven schedule; a field-officer symptom-logging checklist; a centralized compliance-and-bio-input ledger), biological &amp; cultural control (2 — an herbal foliar/pod spray adapted from the rice/dairy farm's practice; an amino-acid/molasses bio-concoction on the taro project's 15-day cycle), and post-harvest handling (1 — rolling phytosanitation rounds every 7–14 days). Land the recommendation clearly: for Tatay specifically, start with the 15-day calendar plus the herbal spray — cheapest to start, no new equipment, and it fits his limited labor capacity given his health constraints. The ledger and the amino-acid spray follow once the calendar habit is established.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Masa. This slide was flagged as especially important — don't rush it. Four points, and you can frame all of them as your 'the numbers back this up' close: (1) everything proposed is organic-only, low-cost, human-in-the-loop, no synthetic inputs or AI/robotics — that's not a technology choice, it's literally what Muravah and Tatay told us they need. (2) It's the single largest lever in our whole dataset: resolving pest/disease pressure is a ~4x yield recovery for Tatay, 0 kg to a potential 2,000 kg/year. (3) It fixes two problems at once — stabilizing farm-level supply also stabilizes the processing facility, which told us it's 'sometimes out of supply for cacao' because of these same upstream losses. (4) Nothing here is invented from scratch — it's the rice/dairy farm's spray practice and the taro project's schedule discipline, adapted with honestly-stated caveats to cacao's arboreal, year-round biology.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Keisuke. Open with Tatay's own quote: he told us directly that 'a pilot study and investors would be needed.' Then give three concrete ways to help him find them: (1) point to the regional funding precedent — the Zambales solar farm secured ₱10 million for a comparable-scale agri-infrastructure pilot, which is concrete proof that regional agri-tech investment appetite exists and gives us a benchmark to pitch against. (2) Package the pilot inside Muravah's existing 500–1,000-farmer production-cycle study rather than pitching it as one lone farmer's ask — investors get an established NGO's track record and scale behind it. (3) Lead with the organic price-premium ROI story: frame the ask as bridge capital toward organic/export certification, where a projected 4x yield recovery plus a price premium is a real return case, not just a request for aid. This is your tradeoffs lane — feel free to speak to the organic-vs-export-vs-income tension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Nancy. Close warmly and briefly — read both lines as written: 'Maraming salamat sa pakikinig' (Filipino) and 'ご清聴ありがとうございました' (Japanese, roughly 'thank you for your attention'), then 'Thank you for listening' in English if it helps the room. Credit the team by name: Nancy, Masa, Keisuke, Ria, Chow. Don't add new content here — let it land as a clean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209"/>
        </a:solidFill>
      </p:bgPr>
    </p:bg>
    <p:spTree>
      <p:nvGrpSpPr>
        <p:cNvPr id="1" name=""/>
        <p:cNvGrpSpPr/>
        <p:nvPr/>
      </p:nvGrpSpPr>
      <p:grpSpPr>
        <a:xfrm>
          <a:off x="0" y="0"/>
          <a:ext cx="0" cy="0"/>
          <a:chOff x="0" y="0"/>
          <a:chExt cx="0" cy="0"/>
        </a:xfrm>
      </p:grpSpPr>
      <p:sp>
        <p:nvSpPr>
          <p:cNvPr id="2" name="Shape 0"/>
          <p:cNvSpPr/>
          <p:nvPr/>
        </p:nvSpPr>
        <p:spPr>
          <a:xfrm>
            <a:off x="8778240" y="-2377440"/>
            <a:ext cx="7315200" cy="7315200"/>
          </a:xfrm>
          <a:prstGeom prst="ellipse">
            <a:avLst/>
          </a:prstGeom>
          <a:solidFill>
            <a:srgbClr val="B85C38">
              <a:alpha val="88000"/>
            </a:srgbClr>
          </a:solidFill>
          <a:ln/>
        </p:spPr>
      </p:sp>
      <p:sp>
        <p:nvSpPr>
          <p:cNvPr id="3" name="Shape 1"/>
          <p:cNvSpPr/>
          <p:nvPr/>
        </p:nvSpPr>
        <p:spPr>
          <a:xfrm>
            <a:off x="9692640" y="-1097280"/>
            <a:ext cx="4754880" cy="4754880"/>
          </a:xfrm>
          <a:prstGeom prst="ellipse">
            <a:avLst/>
          </a:prstGeom>
          <a:solidFill>
            <a:srgbClr val="D9A441">
              <a:alpha val="65000"/>
            </a:srgbClr>
          </a:solidFill>
          <a:ln/>
        </p:spPr>
      </p:sp>
      <p:sp>
        <p:nvSpPr>
          <p:cNvPr id="4" name="Text 2"/>
          <p:cNvSpPr txBox="1"/>
          <p:nvPr/>
        </p:nvSpPr>
        <p:spPr>
          <a:xfrm>
            <a:off x="548640" y="2011680"/>
            <a:ext cx="9144000" cy="320040"/>
          </a:xfrm>
          <a:prstGeom prst="rect">
            <a:avLst/>
          </a:prstGeom>
          <a:noFill/>
          <a:ln/>
        </p:spPr>
        <p:txBody>
          <a:bodyPr wrap="square" lIns="0" tIns="0" rIns="0" bIns="0" rtlCol="0" anchor="ctr"/>
          <a:lstStyle/>
          <a:p>
            <a:pPr indent="0" marL="0">
              <a:buNone/>
            </a:pPr>
            <a:r>
              <a:rPr lang="en-US" sz="1100" b="1" spc="200" kern="0" dirty="0">
                <a:solidFill>
                  <a:srgbClr val="D9A441"/>
                </a:solidFill>
                <a:latin typeface="Calibri" pitchFamily="34" charset="0"/>
                <a:ea typeface="Calibri" pitchFamily="34" charset="-122"/>
                <a:cs typeface="Calibri" pitchFamily="34" charset="-120"/>
              </a:rPr>
              <a:t>BICOL CACAO FIELD RESEARCH · PITCH</a:t>
            </a:r>
            <a:endParaRPr lang="en-US" sz="1100" dirty="0"/>
          </a:p>
        </p:txBody>
      </p:sp>
      <p:sp>
        <p:nvSpPr>
          <p:cNvPr id="5" name="Text 3"/>
          <p:cNvSpPr txBox="1"/>
          <p:nvPr/>
        </p:nvSpPr>
        <p:spPr>
          <a:xfrm>
            <a:off x="548640" y="2377440"/>
            <a:ext cx="7863840" cy="1371600"/>
          </a:xfrm>
          <a:prstGeom prst="rect">
            <a:avLst/>
          </a:prstGeom>
          <a:noFill/>
          <a:ln/>
        </p:spPr>
        <p:txBody>
          <a:bodyPr wrap="square" lIns="0" tIns="0" rIns="0" bIns="0" rtlCol="0" anchor="t"/>
          <a:lstStyle/>
          <a:p>
            <a:pPr indent="0" marL="0">
              <a:buNone/>
            </a:pPr>
            <a:r>
              <a:rPr lang="en-US" sz="4600" b="1" dirty="0">
                <a:solidFill>
                  <a:srgbClr val="F7F2EA"/>
                </a:solidFill>
                <a:latin typeface="Cambria" pitchFamily="34" charset="0"/>
                <a:ea typeface="Cambria" pitchFamily="34" charset="-122"/>
                <a:cs typeface="Cambria" pitchFamily="34" charset="-120"/>
              </a:rPr>
              <a:t>Bicol Cacao Crisis</a:t>
            </a:r>
            <a:endParaRPr lang="en-US" sz="4600" dirty="0"/>
          </a:p>
        </p:txBody>
      </p:sp>
      <p:sp>
        <p:nvSpPr>
          <p:cNvPr id="6" name="Text 4"/>
          <p:cNvSpPr txBox="1"/>
          <p:nvPr/>
        </p:nvSpPr>
        <p:spPr>
          <a:xfrm>
            <a:off x="548640" y="3611880"/>
            <a:ext cx="7315200" cy="548640"/>
          </a:xfrm>
          <a:prstGeom prst="rect">
            <a:avLst/>
          </a:prstGeom>
          <a:noFill/>
          <a:ln/>
        </p:spPr>
        <p:txBody>
          <a:bodyPr wrap="square" lIns="0" tIns="0" rIns="0" bIns="0" rtlCol="0" anchor="ctr"/>
          <a:lstStyle/>
          <a:p>
            <a:pPr indent="0" marL="0">
              <a:buNone/>
            </a:pPr>
            <a:r>
              <a:rPr lang="en-US" sz="2600" i="1" dirty="0">
                <a:solidFill>
                  <a:srgbClr val="D9A441"/>
                </a:solidFill>
                <a:latin typeface="Cambria" pitchFamily="34" charset="0"/>
                <a:ea typeface="Cambria" pitchFamily="34" charset="-122"/>
                <a:cs typeface="Cambria" pitchFamily="34" charset="-120"/>
              </a:rPr>
              <a:t>From Field to Fix</a:t>
            </a:r>
            <a:endParaRPr lang="en-US" sz="2600" dirty="0"/>
          </a:p>
        </p:txBody>
      </p:sp>
      <p:sp>
        <p:nvSpPr>
          <p:cNvPr id="7" name="Text 5"/>
          <p:cNvSpPr txBox="1"/>
          <p:nvPr/>
        </p:nvSpPr>
        <p:spPr>
          <a:xfrm>
            <a:off x="548640" y="4343400"/>
            <a:ext cx="7315200" cy="822960"/>
          </a:xfrm>
          <a:prstGeom prst="rect">
            <a:avLst/>
          </a:prstGeom>
          <a:noFill/>
          <a:ln/>
        </p:spPr>
        <p:txBody>
          <a:bodyPr wrap="square" lIns="0" tIns="0" rIns="0" bIns="0" rtlCol="0" anchor="ctr"/>
          <a:lstStyle/>
          <a:p>
            <a:pPr indent="0" marL="0">
              <a:lnSpc>
                <a:spcPct val="125000"/>
              </a:lnSpc>
              <a:buNone/>
            </a:pPr>
            <a:r>
              <a:rPr lang="en-US" sz="1400" dirty="0">
                <a:solidFill>
                  <a:srgbClr val="C9BEB0"/>
                </a:solidFill>
                <a:latin typeface="Calibri" pitchFamily="34" charset="0"/>
                <a:ea typeface="Calibri" pitchFamily="34" charset="-122"/>
                <a:cs typeface="Calibri" pitchFamily="34" charset="-120"/>
              </a:rPr>
              <a:t>A pitch grounded in direct interviews and site visits across Albay and the wider Bicol region, August 26–28.</a:t>
            </a:r>
            <a:endParaRPr lang="en-US" sz="1400" dirty="0"/>
          </a:p>
        </p:txBody>
      </p:sp>
      <p:sp>
        <p:nvSpPr>
          <p:cNvPr id="8" name="Text 6"/>
          <p:cNvSpPr txBox="1"/>
          <p:nvPr/>
        </p:nvSpPr>
        <p:spPr>
          <a:xfrm>
            <a:off x="548640" y="5760720"/>
            <a:ext cx="7132320" cy="640080"/>
          </a:xfrm>
          <a:prstGeom prst="rect">
            <a:avLst/>
          </a:prstGeom>
          <a:noFill/>
          <a:ln/>
        </p:spPr>
        <p:txBody>
          <a:bodyPr wrap="square" lIns="0" tIns="0" rIns="0" bIns="0" rtlCol="0" anchor="ctr"/>
          <a:lstStyle/>
          <a:p>
            <a:pPr indent="0" marL="0">
              <a:buNone/>
            </a:pPr>
            <a:r>
              <a:rPr lang="en-US" sz="1300" i="1" dirty="0">
                <a:solidFill>
                  <a:srgbClr val="F7E9C9"/>
                </a:solidFill>
                <a:latin typeface="Calibri" pitchFamily="34" charset="0"/>
                <a:ea typeface="Calibri" pitchFamily="34" charset="-122"/>
                <a:cs typeface="Calibri" pitchFamily="34" charset="-120"/>
              </a:rPr>
              <a:t>Thesis: every solution we propose already works somewhere in Bicol — our job is showing how to bring it to cacao.</a:t>
            </a:r>
            <a:endParaRPr lang="en-US" sz="1300" dirty="0"/>
          </a:p>
        </p:txBody>
      </p:sp>
      <p:sp>
        <p:nvSpPr>
          <p:cNvPr id="10" name="Text 7"/>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01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FIELD VISIT · DAY 1</a:t>
            </a:r>
            <a:endParaRPr lang="en-US" sz="1100" dirty="0"/>
          </a:p>
        </p:txBody>
      </p:sp>
      <p:sp>
        <p:nvSpPr>
          <p:cNvPr id="3" name="Text 1"/>
          <p:cNvSpPr txBox="1"/>
          <p:nvPr/>
        </p:nvSpPr>
        <p:spPr>
          <a:xfrm>
            <a:off x="548640" y="777240"/>
            <a:ext cx="11064240" cy="685800"/>
          </a:xfrm>
          <a:prstGeom prst="rect">
            <a:avLst/>
          </a:prstGeom>
          <a:noFill/>
          <a:ln/>
        </p:spPr>
        <p:txBody>
          <a:bodyPr wrap="square" lIns="0" tIns="0" rIns="0" bIns="0" rtlCol="0" anchor="ctr"/>
          <a:lstStyle/>
          <a:p>
            <a:pPr indent="0" marL="0">
              <a:buNone/>
            </a:pPr>
            <a:r>
              <a:rPr lang="en-US" sz="2800" b="1" dirty="0">
                <a:solidFill>
                  <a:srgbClr val="3D2B1F"/>
                </a:solidFill>
                <a:latin typeface="Cambria" pitchFamily="34" charset="0"/>
                <a:ea typeface="Cambria" pitchFamily="34" charset="-122"/>
                <a:cs typeface="Cambria" pitchFamily="34" charset="-120"/>
              </a:rPr>
              <a:t>We visited Mayon Gold / Muravah Foundation</a:t>
            </a:r>
            <a:endParaRPr lang="en-US" sz="2800" dirty="0"/>
          </a:p>
        </p:txBody>
      </p:sp>
      <p:sp>
        <p:nvSpPr>
          <p:cNvPr id="4" name="Text 2"/>
          <p:cNvSpPr txBox="1"/>
          <p:nvPr/>
        </p:nvSpPr>
        <p:spPr>
          <a:xfrm>
            <a:off x="548640" y="1508760"/>
            <a:ext cx="11064240" cy="685800"/>
          </a:xfrm>
          <a:prstGeom prst="rect">
            <a:avLst/>
          </a:prstGeom>
          <a:noFill/>
          <a:ln/>
        </p:spPr>
        <p:txBody>
          <a:bodyPr wrap="square" lIns="0" tIns="0" rIns="0" bIns="0" rtlCol="0" anchor="ctr"/>
          <a:lstStyle/>
          <a:p>
            <a:pPr indent="0" marL="0">
              <a:lnSpc>
                <a:spcPct val="125000"/>
              </a:lnSpc>
              <a:buNone/>
            </a:pPr>
            <a:r>
              <a:rPr lang="en-US" sz="1350" dirty="0">
                <a:solidFill>
                  <a:srgbClr val="6B5745"/>
                </a:solidFill>
                <a:latin typeface="Calibri" pitchFamily="34" charset="0"/>
                <a:ea typeface="Calibri" pitchFamily="34" charset="-122"/>
                <a:cs typeface="Calibri" pitchFamily="34" charset="-120"/>
              </a:rPr>
              <a:t>A cacao NGO in Albay that funds typhoon-proof homes and education scholarships from cacao profits, grows heirloom native cacao interplanted with Pili and coconut, and works strictly organic — no synthetic fertilizers or pesticides.</a:t>
            </a:r>
            <a:endParaRPr lang="en-US" sz="1350" dirty="0"/>
          </a:p>
        </p:txBody>
      </p:sp>
      <p:sp>
        <p:nvSpPr>
          <p:cNvPr id="5" name="Shape 3"/>
          <p:cNvSpPr/>
          <p:nvPr/>
        </p:nvSpPr>
        <p:spPr>
          <a:xfrm>
            <a:off x="548640" y="2423160"/>
            <a:ext cx="5349240" cy="3703320"/>
          </a:xfrm>
          <a:prstGeom prst="roundRect">
            <a:avLst>
              <a:gd name="adj" fmla="val 1481"/>
            </a:avLst>
          </a:prstGeom>
          <a:solidFill>
            <a:srgbClr val="F4F1EC"/>
          </a:solidFill>
          <a:ln w="19050">
            <a:solidFill>
              <a:srgbClr val="E4DCD1"/>
            </a:solidFill>
            <a:prstDash val="dash"/>
          </a:ln>
        </p:spPr>
      </p:sp>
      <p:sp>
        <p:nvSpPr>
          <p:cNvPr id="6" name="Text 4"/>
          <p:cNvSpPr txBox="1"/>
          <p:nvPr/>
        </p:nvSpPr>
        <p:spPr>
          <a:xfrm>
            <a:off x="548640" y="3771900"/>
            <a:ext cx="5349240" cy="548640"/>
          </a:xfrm>
          <a:prstGeom prst="rect">
            <a:avLst/>
          </a:prstGeom>
          <a:noFill/>
          <a:ln/>
        </p:spPr>
        <p:txBody>
          <a:bodyPr wrap="square" lIns="0" tIns="0" rIns="0" bIns="0" rtlCol="0" anchor="ctr"/>
          <a:lstStyle/>
          <a:p>
            <a:pPr algn="ctr" indent="0" marL="0">
              <a:buNone/>
            </a:pPr>
            <a:r>
              <a:rPr lang="en-US" sz="2600" dirty="0">
                <a:solidFill>
                  <a:srgbClr val="6B5745"/>
                </a:solidFill>
              </a:rPr>
              <a:t>🖼</a:t>
            </a:r>
            <a:endParaRPr lang="en-US" sz="2600" dirty="0"/>
          </a:p>
        </p:txBody>
      </p:sp>
      <p:sp>
        <p:nvSpPr>
          <p:cNvPr id="7" name="Text 5"/>
          <p:cNvSpPr txBox="1"/>
          <p:nvPr/>
        </p:nvSpPr>
        <p:spPr>
          <a:xfrm>
            <a:off x="822960" y="4320540"/>
            <a:ext cx="4800600" cy="548640"/>
          </a:xfrm>
          <a:prstGeom prst="rect">
            <a:avLst/>
          </a:prstGeom>
          <a:noFill/>
          <a:ln/>
        </p:spPr>
        <p:txBody>
          <a:bodyPr wrap="square" lIns="0" tIns="0" rIns="0" bIns="0" rtlCol="0" anchor="t"/>
          <a:lstStyle/>
          <a:p>
            <a:pPr algn="ctr" indent="0" marL="0">
              <a:lnSpc>
                <a:spcPct val="115000"/>
              </a:lnSpc>
              <a:buNone/>
            </a:pPr>
            <a:r>
              <a:rPr lang="en-US" sz="1100" i="1" dirty="0">
                <a:solidFill>
                  <a:srgbClr val="6B5745"/>
                </a:solidFill>
                <a:latin typeface="Calibri" pitchFamily="34" charset="0"/>
                <a:ea typeface="Calibri" pitchFamily="34" charset="-122"/>
                <a:cs typeface="Calibri" pitchFamily="34" charset="-120"/>
              </a:rPr>
              <a:t>[ image placeholder — Mayon Gold / Muravah site visit, photo 1 ]</a:t>
            </a:r>
            <a:endParaRPr lang="en-US" sz="1100" dirty="0"/>
          </a:p>
        </p:txBody>
      </p:sp>
      <p:sp>
        <p:nvSpPr>
          <p:cNvPr id="8" name="Shape 6"/>
          <p:cNvSpPr/>
          <p:nvPr/>
        </p:nvSpPr>
        <p:spPr>
          <a:xfrm>
            <a:off x="6080760" y="2423160"/>
            <a:ext cx="5349240" cy="3703320"/>
          </a:xfrm>
          <a:prstGeom prst="roundRect">
            <a:avLst>
              <a:gd name="adj" fmla="val 1481"/>
            </a:avLst>
          </a:prstGeom>
          <a:solidFill>
            <a:srgbClr val="F4F1EC"/>
          </a:solidFill>
          <a:ln w="19050">
            <a:solidFill>
              <a:srgbClr val="E4DCD1"/>
            </a:solidFill>
            <a:prstDash val="dash"/>
          </a:ln>
        </p:spPr>
      </p:sp>
      <p:sp>
        <p:nvSpPr>
          <p:cNvPr id="9" name="Text 7"/>
          <p:cNvSpPr txBox="1"/>
          <p:nvPr/>
        </p:nvSpPr>
        <p:spPr>
          <a:xfrm>
            <a:off x="6080760" y="3771900"/>
            <a:ext cx="5349240" cy="548640"/>
          </a:xfrm>
          <a:prstGeom prst="rect">
            <a:avLst/>
          </a:prstGeom>
          <a:noFill/>
          <a:ln/>
        </p:spPr>
        <p:txBody>
          <a:bodyPr wrap="square" lIns="0" tIns="0" rIns="0" bIns="0" rtlCol="0" anchor="ctr"/>
          <a:lstStyle/>
          <a:p>
            <a:pPr algn="ctr" indent="0" marL="0">
              <a:buNone/>
            </a:pPr>
            <a:r>
              <a:rPr lang="en-US" sz="2600" dirty="0">
                <a:solidFill>
                  <a:srgbClr val="6B5745"/>
                </a:solidFill>
              </a:rPr>
              <a:t>🖼</a:t>
            </a:r>
            <a:endParaRPr lang="en-US" sz="2600" dirty="0"/>
          </a:p>
        </p:txBody>
      </p:sp>
      <p:sp>
        <p:nvSpPr>
          <p:cNvPr id="10" name="Text 8"/>
          <p:cNvSpPr txBox="1"/>
          <p:nvPr/>
        </p:nvSpPr>
        <p:spPr>
          <a:xfrm>
            <a:off x="6355080" y="4320540"/>
            <a:ext cx="4800600" cy="548640"/>
          </a:xfrm>
          <a:prstGeom prst="rect">
            <a:avLst/>
          </a:prstGeom>
          <a:noFill/>
          <a:ln/>
        </p:spPr>
        <p:txBody>
          <a:bodyPr wrap="square" lIns="0" tIns="0" rIns="0" bIns="0" rtlCol="0" anchor="t"/>
          <a:lstStyle/>
          <a:p>
            <a:pPr algn="ctr" indent="0" marL="0">
              <a:lnSpc>
                <a:spcPct val="115000"/>
              </a:lnSpc>
              <a:buNone/>
            </a:pPr>
            <a:r>
              <a:rPr lang="en-US" sz="1100" i="1" dirty="0">
                <a:solidFill>
                  <a:srgbClr val="6B5745"/>
                </a:solidFill>
                <a:latin typeface="Calibri" pitchFamily="34" charset="0"/>
                <a:ea typeface="Calibri" pitchFamily="34" charset="-122"/>
                <a:cs typeface="Calibri" pitchFamily="34" charset="-120"/>
              </a:rPr>
              <a:t>[ image placeholder — Mayon Gold / Muravah site visit, photo 2 ]</a:t>
            </a:r>
            <a:endParaRPr lang="en-US" sz="1100" dirty="0"/>
          </a:p>
        </p:txBody>
      </p:sp>
      <p:sp>
        <p:nvSpPr>
          <p:cNvPr id="11" name="Text 9"/>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02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WHAT OUR PROBES FOUND</a:t>
            </a:r>
            <a:endParaRPr lang="en-US" sz="11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3000" b="1" dirty="0">
                <a:solidFill>
                  <a:srgbClr val="3D2B1F"/>
                </a:solidFill>
                <a:latin typeface="Cambria" pitchFamily="34" charset="0"/>
                <a:ea typeface="Cambria" pitchFamily="34" charset="-122"/>
                <a:cs typeface="Cambria" pitchFamily="34" charset="-120"/>
              </a:rPr>
              <a:t>Our probes exposed these problems</a:t>
            </a:r>
            <a:endParaRPr lang="en-US" sz="3000" dirty="0"/>
          </a:p>
        </p:txBody>
      </p:sp>
      <p:sp>
        <p:nvSpPr>
          <p:cNvPr id="4" name="Shape 2"/>
          <p:cNvSpPr/>
          <p:nvPr/>
        </p:nvSpPr>
        <p:spPr>
          <a:xfrm>
            <a:off x="566928" y="1901952"/>
            <a:ext cx="82296" cy="82296"/>
          </a:xfrm>
          <a:prstGeom prst="ellipse">
            <a:avLst/>
          </a:prstGeom>
          <a:solidFill>
            <a:srgbClr val="B85C38"/>
          </a:solidFill>
          <a:ln/>
        </p:spPr>
      </p:sp>
      <p:sp>
        <p:nvSpPr>
          <p:cNvPr id="5" name="Text 3"/>
          <p:cNvSpPr txBox="1"/>
          <p:nvPr/>
        </p:nvSpPr>
        <p:spPr>
          <a:xfrm>
            <a:off x="841248" y="1773936"/>
            <a:ext cx="10771632" cy="548640"/>
          </a:xfrm>
          <a:prstGeom prst="rect">
            <a:avLst/>
          </a:prstGeom>
          <a:noFill/>
          <a:ln/>
        </p:spPr>
        <p:txBody>
          <a:bodyPr wrap="square" lIns="0" tIns="0" rIns="0" bIns="0" rtlCol="0" anchor="ctr"/>
          <a:lstStyle/>
          <a:p>
            <a:pPr indent="0" marL="0">
              <a:lnSpc>
                <a:spcPct val="118000"/>
              </a:lnSpc>
              <a:buNone/>
            </a:pPr>
            <a:r>
              <a:rPr lang="en-US" sz="1450" dirty="0">
                <a:solidFill>
                  <a:srgbClr val="3D2B1F"/>
                </a:solidFill>
                <a:latin typeface="Calibri" pitchFamily="34" charset="0"/>
                <a:ea typeface="Calibri" pitchFamily="34" charset="-122"/>
                <a:cs typeface="Calibri" pitchFamily="34" charset="-120"/>
              </a:rPr>
              <a:t>Pest control is named problem #1 overall — ahead of typhoon, transport, or post-harvest handling.</a:t>
            </a:r>
            <a:endParaRPr lang="en-US" sz="1450" dirty="0"/>
          </a:p>
        </p:txBody>
      </p:sp>
      <p:sp>
        <p:nvSpPr>
          <p:cNvPr id="6" name="Shape 4"/>
          <p:cNvSpPr/>
          <p:nvPr/>
        </p:nvSpPr>
        <p:spPr>
          <a:xfrm>
            <a:off x="566928" y="2651760"/>
            <a:ext cx="82296" cy="82296"/>
          </a:xfrm>
          <a:prstGeom prst="ellipse">
            <a:avLst/>
          </a:prstGeom>
          <a:solidFill>
            <a:srgbClr val="B85C38"/>
          </a:solidFill>
          <a:ln/>
        </p:spPr>
      </p:sp>
      <p:sp>
        <p:nvSpPr>
          <p:cNvPr id="7" name="Text 5"/>
          <p:cNvSpPr txBox="1"/>
          <p:nvPr/>
        </p:nvSpPr>
        <p:spPr>
          <a:xfrm>
            <a:off x="841248" y="2523744"/>
            <a:ext cx="10771632" cy="548640"/>
          </a:xfrm>
          <a:prstGeom prst="rect">
            <a:avLst/>
          </a:prstGeom>
          <a:noFill/>
          <a:ln/>
        </p:spPr>
        <p:txBody>
          <a:bodyPr wrap="square" lIns="0" tIns="0" rIns="0" bIns="0" rtlCol="0" anchor="ctr"/>
          <a:lstStyle/>
          <a:p>
            <a:pPr indent="0" marL="0">
              <a:lnSpc>
                <a:spcPct val="118000"/>
              </a:lnSpc>
              <a:buNone/>
            </a:pPr>
            <a:r>
              <a:rPr lang="en-US" sz="1450" dirty="0">
                <a:solidFill>
                  <a:srgbClr val="3D2B1F"/>
                </a:solidFill>
                <a:latin typeface="Calibri" pitchFamily="34" charset="0"/>
                <a:ea typeface="Calibri" pitchFamily="34" charset="-122"/>
                <a:cs typeface="Calibri" pitchFamily="34" charset="-120"/>
              </a:rPr>
              <a:t>Post-harvest loss runs 80–100% from pests/disease network-wide, and near 100% from typhoon in a bad year.</a:t>
            </a:r>
            <a:endParaRPr lang="en-US" sz="1450" dirty="0"/>
          </a:p>
        </p:txBody>
      </p:sp>
      <p:sp>
        <p:nvSpPr>
          <p:cNvPr id="8" name="Shape 6"/>
          <p:cNvSpPr/>
          <p:nvPr/>
        </p:nvSpPr>
        <p:spPr>
          <a:xfrm>
            <a:off x="566928" y="3401568"/>
            <a:ext cx="82296" cy="82296"/>
          </a:xfrm>
          <a:prstGeom prst="ellipse">
            <a:avLst/>
          </a:prstGeom>
          <a:solidFill>
            <a:srgbClr val="B85C38"/>
          </a:solidFill>
          <a:ln/>
        </p:spPr>
      </p:sp>
      <p:sp>
        <p:nvSpPr>
          <p:cNvPr id="9" name="Text 7"/>
          <p:cNvSpPr txBox="1"/>
          <p:nvPr/>
        </p:nvSpPr>
        <p:spPr>
          <a:xfrm>
            <a:off x="841248" y="3273552"/>
            <a:ext cx="10771632" cy="548640"/>
          </a:xfrm>
          <a:prstGeom prst="rect">
            <a:avLst/>
          </a:prstGeom>
          <a:noFill/>
          <a:ln/>
        </p:spPr>
        <p:txBody>
          <a:bodyPr wrap="square" lIns="0" tIns="0" rIns="0" bIns="0" rtlCol="0" anchor="ctr"/>
          <a:lstStyle/>
          <a:p>
            <a:pPr indent="0" marL="0">
              <a:lnSpc>
                <a:spcPct val="118000"/>
              </a:lnSpc>
              <a:buNone/>
            </a:pPr>
            <a:r>
              <a:rPr lang="en-US" sz="1450" dirty="0">
                <a:solidFill>
                  <a:srgbClr val="3D2B1F"/>
                </a:solidFill>
                <a:latin typeface="Calibri" pitchFamily="34" charset="0"/>
                <a:ea typeface="Calibri" pitchFamily="34" charset="-122"/>
                <a:cs typeface="Calibri" pitchFamily="34" charset="-120"/>
              </a:rPr>
              <a:t>The processing facility is “sometimes out of supply for cacao” — upstream farm losses destabilize downstream production runs.</a:t>
            </a:r>
            <a:endParaRPr lang="en-US" sz="1450" dirty="0"/>
          </a:p>
        </p:txBody>
      </p:sp>
      <p:sp>
        <p:nvSpPr>
          <p:cNvPr id="10" name="Shape 8"/>
          <p:cNvSpPr/>
          <p:nvPr/>
        </p:nvSpPr>
        <p:spPr>
          <a:xfrm>
            <a:off x="566928" y="4151376"/>
            <a:ext cx="82296" cy="82296"/>
          </a:xfrm>
          <a:prstGeom prst="ellipse">
            <a:avLst/>
          </a:prstGeom>
          <a:solidFill>
            <a:srgbClr val="B85C38"/>
          </a:solidFill>
          <a:ln/>
        </p:spPr>
      </p:sp>
      <p:sp>
        <p:nvSpPr>
          <p:cNvPr id="11" name="Text 9"/>
          <p:cNvSpPr txBox="1"/>
          <p:nvPr/>
        </p:nvSpPr>
        <p:spPr>
          <a:xfrm>
            <a:off x="841248" y="4023360"/>
            <a:ext cx="10771632" cy="548640"/>
          </a:xfrm>
          <a:prstGeom prst="rect">
            <a:avLst/>
          </a:prstGeom>
          <a:noFill/>
          <a:ln/>
        </p:spPr>
        <p:txBody>
          <a:bodyPr wrap="square" lIns="0" tIns="0" rIns="0" bIns="0" rtlCol="0" anchor="ctr"/>
          <a:lstStyle/>
          <a:p>
            <a:pPr indent="0" marL="0">
              <a:lnSpc>
                <a:spcPct val="118000"/>
              </a:lnSpc>
              <a:buNone/>
            </a:pPr>
            <a:r>
              <a:rPr lang="en-US" sz="1450" dirty="0">
                <a:solidFill>
                  <a:srgbClr val="3D2B1F"/>
                </a:solidFill>
                <a:latin typeface="Calibri" pitchFamily="34" charset="0"/>
                <a:ea typeface="Calibri" pitchFamily="34" charset="-122"/>
                <a:cs typeface="Calibri" pitchFamily="34" charset="-120"/>
              </a:rPr>
              <a:t>Power outages are the processing facility's own #1 problem, on top of the supply instability.</a:t>
            </a:r>
            <a:endParaRPr lang="en-US" sz="1450" dirty="0"/>
          </a:p>
        </p:txBody>
      </p:sp>
      <p:sp>
        <p:nvSpPr>
          <p:cNvPr id="12" name="Shape 10"/>
          <p:cNvSpPr/>
          <p:nvPr/>
        </p:nvSpPr>
        <p:spPr>
          <a:xfrm>
            <a:off x="566928" y="4901184"/>
            <a:ext cx="82296" cy="82296"/>
          </a:xfrm>
          <a:prstGeom prst="ellipse">
            <a:avLst/>
          </a:prstGeom>
          <a:solidFill>
            <a:srgbClr val="B85C38"/>
          </a:solidFill>
          <a:ln/>
        </p:spPr>
      </p:sp>
      <p:sp>
        <p:nvSpPr>
          <p:cNvPr id="13" name="Text 11"/>
          <p:cNvSpPr txBox="1"/>
          <p:nvPr/>
        </p:nvSpPr>
        <p:spPr>
          <a:xfrm>
            <a:off x="841248" y="4773168"/>
            <a:ext cx="10771632" cy="548640"/>
          </a:xfrm>
          <a:prstGeom prst="rect">
            <a:avLst/>
          </a:prstGeom>
          <a:noFill/>
          <a:ln/>
        </p:spPr>
        <p:txBody>
          <a:bodyPr wrap="square" lIns="0" tIns="0" rIns="0" bIns="0" rtlCol="0" anchor="ctr"/>
          <a:lstStyle/>
          <a:p>
            <a:pPr indent="0" marL="0">
              <a:lnSpc>
                <a:spcPct val="118000"/>
              </a:lnSpc>
              <a:buNone/>
            </a:pPr>
            <a:r>
              <a:rPr lang="en-US" sz="1450" dirty="0">
                <a:solidFill>
                  <a:srgbClr val="3D2B1F"/>
                </a:solidFill>
                <a:latin typeface="Calibri" pitchFamily="34" charset="0"/>
                <a:ea typeface="Calibri" pitchFamily="34" charset="-122"/>
                <a:cs typeface="Calibri" pitchFamily="34" charset="-120"/>
              </a:rPr>
              <a:t>Farmer income sits at ₱2,000–10,000/month, with an average farmer age of ~50 and no government succession-training program.</a:t>
            </a:r>
            <a:endParaRPr lang="en-US" sz="1450" dirty="0"/>
          </a:p>
        </p:txBody>
      </p:sp>
      <p:sp>
        <p:nvSpPr>
          <p:cNvPr id="14" name="Text 12"/>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03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FIELD VISIT · DAY 1 — PRODUCTION CHAIN</a:t>
            </a:r>
            <a:endParaRPr lang="en-US" sz="1100" dirty="0"/>
          </a:p>
        </p:txBody>
      </p:sp>
      <p:sp>
        <p:nvSpPr>
          <p:cNvPr id="3" name="Text 1"/>
          <p:cNvSpPr txBox="1"/>
          <p:nvPr/>
        </p:nvSpPr>
        <p:spPr>
          <a:xfrm>
            <a:off x="548640" y="777240"/>
            <a:ext cx="11064240" cy="594360"/>
          </a:xfrm>
          <a:prstGeom prst="rect">
            <a:avLst/>
          </a:prstGeom>
          <a:noFill/>
          <a:ln/>
        </p:spPr>
        <p:txBody>
          <a:bodyPr wrap="square" lIns="0" tIns="0" rIns="0" bIns="0" rtlCol="0" anchor="ctr"/>
          <a:lstStyle/>
          <a:p>
            <a:pPr indent="0" marL="0">
              <a:buNone/>
            </a:pPr>
            <a:r>
              <a:rPr lang="en-US" sz="2700" b="1" dirty="0">
                <a:solidFill>
                  <a:srgbClr val="3D2B1F"/>
                </a:solidFill>
                <a:latin typeface="Cambria" pitchFamily="34" charset="0"/>
                <a:ea typeface="Cambria" pitchFamily="34" charset="-122"/>
                <a:cs typeface="Cambria" pitchFamily="34" charset="-120"/>
              </a:rPr>
              <a:t>From flowering to a sellable product</a:t>
            </a:r>
            <a:endParaRPr lang="en-US" sz="2700" dirty="0"/>
          </a:p>
        </p:txBody>
      </p:sp>
      <p:sp>
        <p:nvSpPr>
          <p:cNvPr id="4" name="Text 2"/>
          <p:cNvSpPr txBox="1"/>
          <p:nvPr/>
        </p:nvSpPr>
        <p:spPr>
          <a:xfrm>
            <a:off x="548640" y="1371600"/>
            <a:ext cx="6400800" cy="1371600"/>
          </a:xfrm>
          <a:prstGeom prst="rect">
            <a:avLst/>
          </a:prstGeom>
          <a:noFill/>
          <a:ln/>
        </p:spPr>
        <p:txBody>
          <a:bodyPr wrap="square" lIns="0" tIns="0" rIns="0" bIns="0" rtlCol="0" anchor="ctr"/>
          <a:lstStyle/>
          <a:p>
            <a:pPr indent="0" marL="0">
              <a:lnSpc>
                <a:spcPct val="125000"/>
              </a:lnSpc>
              <a:buNone/>
            </a:pPr>
            <a:r>
              <a:rPr lang="en-US" sz="1250" dirty="0">
                <a:solidFill>
                  <a:srgbClr val="6B5745"/>
                </a:solidFill>
                <a:latin typeface="Calibri" pitchFamily="34" charset="0"/>
                <a:ea typeface="Calibri" pitchFamily="34" charset="-122"/>
                <a:cs typeface="Calibri" pitchFamily="34" charset="-120"/>
              </a:rPr>
              <a:t>Muravah's stated timeline: flower→pod 6 months, ferment 6 days, solar-dry 1 day–1 week, roast 27 min at 140°C. Storing dried beans 3–6 months before processing roughly doubles time-to-product.</a:t>
            </a:r>
            <a:endParaRPr lang="en-US" sz="1250" dirty="0"/>
          </a:p>
        </p:txBody>
      </p:sp>
      <p:graphicFrame>
        <p:nvGraphicFramePr>
          <p:cNvPr id="5" name="Chart 0" descr=""/>
          <p:cNvGraphicFramePr/>
          <p:nvPr/>
        </p:nvGraphicFramePr>
        <p:xfrm>
          <a:off x="548640" y="2834640"/>
          <a:ext cx="6400800" cy="3291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287768" y="2953512"/>
            <a:ext cx="82296" cy="82296"/>
          </a:xfrm>
          <a:prstGeom prst="ellipse">
            <a:avLst/>
          </a:prstGeom>
          <a:solidFill>
            <a:srgbClr val="B85C38"/>
          </a:solidFill>
          <a:ln/>
        </p:spPr>
      </p:sp>
      <p:sp>
        <p:nvSpPr>
          <p:cNvPr id="7" name="Text 4"/>
          <p:cNvSpPr txBox="1"/>
          <p:nvPr/>
        </p:nvSpPr>
        <p:spPr>
          <a:xfrm>
            <a:off x="7562088" y="2825496"/>
            <a:ext cx="4050792" cy="777240"/>
          </a:xfrm>
          <a:prstGeom prst="rect">
            <a:avLst/>
          </a:prstGeom>
          <a:noFill/>
          <a:ln/>
        </p:spPr>
        <p:txBody>
          <a:bodyPr wrap="square" lIns="0" tIns="0" rIns="0" bIns="0" rtlCol="0" anchor="ctr"/>
          <a:lstStyle/>
          <a:p>
            <a:pPr indent="0" marL="0">
              <a:lnSpc>
                <a:spcPct val="118000"/>
              </a:lnSpc>
              <a:buNone/>
            </a:pPr>
            <a:r>
              <a:rPr lang="en-US" sz="1150" dirty="0">
                <a:solidFill>
                  <a:srgbClr val="3D2B1F"/>
                </a:solidFill>
                <a:latin typeface="Calibri" pitchFamily="34" charset="0"/>
                <a:ea typeface="Calibri" pitchFamily="34" charset="-122"/>
                <a:cs typeface="Calibri" pitchFamily="34" charset="-120"/>
              </a:rPr>
              <a:t>Facility is undersized for their batch volumes: pod-breaking up to 1,000 pods/hr at peak.</a:t>
            </a:r>
            <a:endParaRPr lang="en-US" sz="1150" dirty="0"/>
          </a:p>
        </p:txBody>
      </p:sp>
      <p:sp>
        <p:nvSpPr>
          <p:cNvPr id="8" name="Shape 5"/>
          <p:cNvSpPr/>
          <p:nvPr/>
        </p:nvSpPr>
        <p:spPr>
          <a:xfrm>
            <a:off x="7287768" y="3913632"/>
            <a:ext cx="82296" cy="82296"/>
          </a:xfrm>
          <a:prstGeom prst="ellipse">
            <a:avLst/>
          </a:prstGeom>
          <a:solidFill>
            <a:srgbClr val="B85C38"/>
          </a:solidFill>
          <a:ln/>
        </p:spPr>
      </p:sp>
      <p:sp>
        <p:nvSpPr>
          <p:cNvPr id="9" name="Text 6"/>
          <p:cNvSpPr txBox="1"/>
          <p:nvPr/>
        </p:nvSpPr>
        <p:spPr>
          <a:xfrm>
            <a:off x="7562088" y="3785616"/>
            <a:ext cx="4050792" cy="777240"/>
          </a:xfrm>
          <a:prstGeom prst="rect">
            <a:avLst/>
          </a:prstGeom>
          <a:noFill/>
          <a:ln/>
        </p:spPr>
        <p:txBody>
          <a:bodyPr wrap="square" lIns="0" tIns="0" rIns="0" bIns="0" rtlCol="0" anchor="ctr"/>
          <a:lstStyle/>
          <a:p>
            <a:pPr indent="0" marL="0">
              <a:lnSpc>
                <a:spcPct val="118000"/>
              </a:lnSpc>
              <a:buNone/>
            </a:pPr>
            <a:r>
              <a:rPr lang="en-US" sz="1150" dirty="0">
                <a:solidFill>
                  <a:srgbClr val="3D2B1F"/>
                </a:solidFill>
                <a:latin typeface="Calibri" pitchFamily="34" charset="0"/>
                <a:ea typeface="Calibri" pitchFamily="34" charset="-122"/>
                <a:cs typeface="Calibri" pitchFamily="34" charset="-120"/>
              </a:rPr>
              <a:t>60% pod-handling mortality when not handled carefully — worsened further by Mayon ashfall.</a:t>
            </a:r>
            <a:endParaRPr lang="en-US" sz="1150" dirty="0"/>
          </a:p>
        </p:txBody>
      </p:sp>
      <p:sp>
        <p:nvSpPr>
          <p:cNvPr id="10" name="Shape 7"/>
          <p:cNvSpPr/>
          <p:nvPr/>
        </p:nvSpPr>
        <p:spPr>
          <a:xfrm>
            <a:off x="7287768" y="4873752"/>
            <a:ext cx="82296" cy="82296"/>
          </a:xfrm>
          <a:prstGeom prst="ellipse">
            <a:avLst/>
          </a:prstGeom>
          <a:solidFill>
            <a:srgbClr val="B85C38"/>
          </a:solidFill>
          <a:ln/>
        </p:spPr>
      </p:sp>
      <p:sp>
        <p:nvSpPr>
          <p:cNvPr id="11" name="Text 8"/>
          <p:cNvSpPr txBox="1"/>
          <p:nvPr/>
        </p:nvSpPr>
        <p:spPr>
          <a:xfrm>
            <a:off x="7562088" y="4745736"/>
            <a:ext cx="4050792" cy="777240"/>
          </a:xfrm>
          <a:prstGeom prst="rect">
            <a:avLst/>
          </a:prstGeom>
          <a:noFill/>
          <a:ln/>
        </p:spPr>
        <p:txBody>
          <a:bodyPr wrap="square" lIns="0" tIns="0" rIns="0" bIns="0" rtlCol="0" anchor="ctr"/>
          <a:lstStyle/>
          <a:p>
            <a:pPr indent="0" marL="0">
              <a:lnSpc>
                <a:spcPct val="118000"/>
              </a:lnSpc>
              <a:buNone/>
            </a:pPr>
            <a:r>
              <a:rPr lang="en-US" sz="1150" dirty="0">
                <a:solidFill>
                  <a:srgbClr val="3D2B1F"/>
                </a:solidFill>
                <a:latin typeface="Calibri" pitchFamily="34" charset="0"/>
                <a:ea typeface="Calibri" pitchFamily="34" charset="-122"/>
                <a:cs typeface="Calibri" pitchFamily="34" charset="-120"/>
              </a:rPr>
              <a:t>More laborers doesn't raise profit: pest/disease pressure caps yield regardless of labor input.</a:t>
            </a:r>
            <a:endParaRPr lang="en-US" sz="1150" dirty="0"/>
          </a:p>
        </p:txBody>
      </p:sp>
      <p:sp>
        <p:nvSpPr>
          <p:cNvPr id="12" name="Text 9"/>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04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FIELD VISIT · DAY 1 — MORE FINDINGS</a:t>
            </a:r>
            <a:endParaRPr lang="en-US" sz="11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2800" b="1" dirty="0">
                <a:solidFill>
                  <a:srgbClr val="3D2B1F"/>
                </a:solidFill>
                <a:latin typeface="Cambria" pitchFamily="34" charset="0"/>
                <a:ea typeface="Cambria" pitchFamily="34" charset="-122"/>
                <a:cs typeface="Cambria" pitchFamily="34" charset="-120"/>
              </a:rPr>
              <a:t>More constraints we have to design around</a:t>
            </a:r>
            <a:endParaRPr lang="en-US" sz="2800" dirty="0"/>
          </a:p>
        </p:txBody>
      </p:sp>
      <p:sp>
        <p:nvSpPr>
          <p:cNvPr id="4" name="Shape 2"/>
          <p:cNvSpPr/>
          <p:nvPr/>
        </p:nvSpPr>
        <p:spPr>
          <a:xfrm>
            <a:off x="566928" y="1947672"/>
            <a:ext cx="82296" cy="82296"/>
          </a:xfrm>
          <a:prstGeom prst="ellipse">
            <a:avLst/>
          </a:prstGeom>
          <a:solidFill>
            <a:srgbClr val="B85C38"/>
          </a:solidFill>
          <a:ln/>
        </p:spPr>
      </p:sp>
      <p:sp>
        <p:nvSpPr>
          <p:cNvPr id="5" name="Text 3"/>
          <p:cNvSpPr txBox="1"/>
          <p:nvPr/>
        </p:nvSpPr>
        <p:spPr>
          <a:xfrm>
            <a:off x="841248" y="1819656"/>
            <a:ext cx="10771632" cy="566928"/>
          </a:xfrm>
          <a:prstGeom prst="rect">
            <a:avLst/>
          </a:prstGeom>
          <a:noFill/>
          <a:ln/>
        </p:spPr>
        <p:txBody>
          <a:bodyPr wrap="square" lIns="0" tIns="0" rIns="0" bIns="0" rtlCol="0" anchor="ctr"/>
          <a:lstStyle/>
          <a:p>
            <a:pPr indent="0" marL="0">
              <a:lnSpc>
                <a:spcPct val="118000"/>
              </a:lnSpc>
              <a:buNone/>
            </a:pPr>
            <a:r>
              <a:rPr lang="en-US" sz="1400" dirty="0">
                <a:solidFill>
                  <a:srgbClr val="3D2B1F"/>
                </a:solidFill>
                <a:latin typeface="Calibri" pitchFamily="34" charset="0"/>
                <a:ea typeface="Calibri" pitchFamily="34" charset="-122"/>
                <a:cs typeface="Calibri" pitchFamily="34" charset="-120"/>
              </a:rPr>
              <a:t>No annual drought/flood prediction — Muravah syncs planting to the monsoon and seeks out farmers with existing water access.</a:t>
            </a:r>
            <a:endParaRPr lang="en-US" sz="1400" dirty="0"/>
          </a:p>
        </p:txBody>
      </p:sp>
      <p:sp>
        <p:nvSpPr>
          <p:cNvPr id="6" name="Shape 4"/>
          <p:cNvSpPr/>
          <p:nvPr/>
        </p:nvSpPr>
        <p:spPr>
          <a:xfrm>
            <a:off x="566928" y="2715768"/>
            <a:ext cx="82296" cy="82296"/>
          </a:xfrm>
          <a:prstGeom prst="ellipse">
            <a:avLst/>
          </a:prstGeom>
          <a:solidFill>
            <a:srgbClr val="B85C38"/>
          </a:solidFill>
          <a:ln/>
        </p:spPr>
      </p:sp>
      <p:sp>
        <p:nvSpPr>
          <p:cNvPr id="7" name="Text 5"/>
          <p:cNvSpPr txBox="1"/>
          <p:nvPr/>
        </p:nvSpPr>
        <p:spPr>
          <a:xfrm>
            <a:off x="841248" y="2587752"/>
            <a:ext cx="10771632" cy="566928"/>
          </a:xfrm>
          <a:prstGeom prst="rect">
            <a:avLst/>
          </a:prstGeom>
          <a:noFill/>
          <a:ln/>
        </p:spPr>
        <p:txBody>
          <a:bodyPr wrap="square" lIns="0" tIns="0" rIns="0" bIns="0" rtlCol="0" anchor="ctr"/>
          <a:lstStyle/>
          <a:p>
            <a:pPr indent="0" marL="0">
              <a:lnSpc>
                <a:spcPct val="118000"/>
              </a:lnSpc>
              <a:buNone/>
            </a:pPr>
            <a:r>
              <a:rPr lang="en-US" sz="1400" dirty="0">
                <a:solidFill>
                  <a:srgbClr val="3D2B1F"/>
                </a:solidFill>
                <a:latin typeface="Calibri" pitchFamily="34" charset="0"/>
                <a:ea typeface="Calibri" pitchFamily="34" charset="-122"/>
                <a:cs typeface="Calibri" pitchFamily="34" charset="-120"/>
              </a:rPr>
              <a:t>Aging farmer population (avg. ~50) with no government training pipeline; Muravah's own coping mechanism is recruiting students from BU Guinubatan.</a:t>
            </a:r>
            <a:endParaRPr lang="en-US" sz="1400" dirty="0"/>
          </a:p>
        </p:txBody>
      </p:sp>
      <p:sp>
        <p:nvSpPr>
          <p:cNvPr id="8" name="Shape 6"/>
          <p:cNvSpPr/>
          <p:nvPr/>
        </p:nvSpPr>
        <p:spPr>
          <a:xfrm>
            <a:off x="566928" y="3483864"/>
            <a:ext cx="82296" cy="82296"/>
          </a:xfrm>
          <a:prstGeom prst="ellipse">
            <a:avLst/>
          </a:prstGeom>
          <a:solidFill>
            <a:srgbClr val="B85C38"/>
          </a:solidFill>
          <a:ln/>
        </p:spPr>
      </p:sp>
      <p:sp>
        <p:nvSpPr>
          <p:cNvPr id="9" name="Text 7"/>
          <p:cNvSpPr txBox="1"/>
          <p:nvPr/>
        </p:nvSpPr>
        <p:spPr>
          <a:xfrm>
            <a:off x="841248" y="3355848"/>
            <a:ext cx="10771632" cy="566928"/>
          </a:xfrm>
          <a:prstGeom prst="rect">
            <a:avLst/>
          </a:prstGeom>
          <a:noFill/>
          <a:ln/>
        </p:spPr>
        <p:txBody>
          <a:bodyPr wrap="square" lIns="0" tIns="0" rIns="0" bIns="0" rtlCol="0" anchor="ctr"/>
          <a:lstStyle/>
          <a:p>
            <a:pPr indent="0" marL="0">
              <a:lnSpc>
                <a:spcPct val="118000"/>
              </a:lnSpc>
              <a:buNone/>
            </a:pPr>
            <a:r>
              <a:rPr lang="en-US" sz="1400" dirty="0">
                <a:solidFill>
                  <a:srgbClr val="3D2B1F"/>
                </a:solidFill>
                <a:latin typeface="Calibri" pitchFamily="34" charset="0"/>
                <a:ea typeface="Calibri" pitchFamily="34" charset="-122"/>
                <a:cs typeface="Calibri" pitchFamily="34" charset="-120"/>
              </a:rPr>
              <a:t>Hard constraint: no synthetic fertilizers or pesticides — biopesticides/biofertilizers only. Any proposal must fit this.</a:t>
            </a:r>
            <a:endParaRPr lang="en-US" sz="1400" dirty="0"/>
          </a:p>
        </p:txBody>
      </p:sp>
      <p:sp>
        <p:nvSpPr>
          <p:cNvPr id="10" name="Shape 8"/>
          <p:cNvSpPr/>
          <p:nvPr/>
        </p:nvSpPr>
        <p:spPr>
          <a:xfrm>
            <a:off x="566928" y="4251960"/>
            <a:ext cx="82296" cy="82296"/>
          </a:xfrm>
          <a:prstGeom prst="ellipse">
            <a:avLst/>
          </a:prstGeom>
          <a:solidFill>
            <a:srgbClr val="B85C38"/>
          </a:solidFill>
          <a:ln/>
        </p:spPr>
      </p:sp>
      <p:sp>
        <p:nvSpPr>
          <p:cNvPr id="11" name="Text 9"/>
          <p:cNvSpPr txBox="1"/>
          <p:nvPr/>
        </p:nvSpPr>
        <p:spPr>
          <a:xfrm>
            <a:off x="841248" y="4123944"/>
            <a:ext cx="10771632" cy="566928"/>
          </a:xfrm>
          <a:prstGeom prst="rect">
            <a:avLst/>
          </a:prstGeom>
          <a:noFill/>
          <a:ln/>
        </p:spPr>
        <p:txBody>
          <a:bodyPr wrap="square" lIns="0" tIns="0" rIns="0" bIns="0" rtlCol="0" anchor="ctr"/>
          <a:lstStyle/>
          <a:p>
            <a:pPr indent="0" marL="0">
              <a:lnSpc>
                <a:spcPct val="118000"/>
              </a:lnSpc>
              <a:buNone/>
            </a:pPr>
            <a:r>
              <a:rPr lang="en-US" sz="1400" dirty="0">
                <a:solidFill>
                  <a:srgbClr val="3D2B1F"/>
                </a:solidFill>
                <a:latin typeface="Calibri" pitchFamily="34" charset="0"/>
                <a:ea typeface="Calibri" pitchFamily="34" charset="-122"/>
                <a:cs typeface="Calibri" pitchFamily="34" charset="-120"/>
              </a:rPr>
              <a:t>Explicitly skeptical of AI/robotics: “not there yet, other problems to solve,” and “AI is biased according to the natives.” Solutions must be low-tech, human-in-the-loop.</a:t>
            </a:r>
            <a:endParaRPr lang="en-US" sz="1400" dirty="0"/>
          </a:p>
        </p:txBody>
      </p:sp>
      <p:sp>
        <p:nvSpPr>
          <p:cNvPr id="12" name="Text 10"/>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05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FIELD VISIT · AUGUST 26</a:t>
            </a:r>
            <a:endParaRPr lang="en-US" sz="1100" dirty="0"/>
          </a:p>
        </p:txBody>
      </p:sp>
      <p:sp>
        <p:nvSpPr>
          <p:cNvPr id="3" name="Text 1"/>
          <p:cNvSpPr txBox="1"/>
          <p:nvPr/>
        </p:nvSpPr>
        <p:spPr>
          <a:xfrm>
            <a:off x="548640" y="777240"/>
            <a:ext cx="11064240" cy="685800"/>
          </a:xfrm>
          <a:prstGeom prst="rect">
            <a:avLst/>
          </a:prstGeom>
          <a:noFill/>
          <a:ln/>
        </p:spPr>
        <p:txBody>
          <a:bodyPr wrap="square" lIns="0" tIns="0" rIns="0" bIns="0" rtlCol="0" anchor="ctr"/>
          <a:lstStyle/>
          <a:p>
            <a:pPr indent="0" marL="0">
              <a:buNone/>
            </a:pPr>
            <a:r>
              <a:rPr lang="en-US" sz="3000" b="1" dirty="0">
                <a:solidFill>
                  <a:srgbClr val="3D2B1F"/>
                </a:solidFill>
                <a:latin typeface="Cambria" pitchFamily="34" charset="0"/>
                <a:ea typeface="Cambria" pitchFamily="34" charset="-122"/>
                <a:cs typeface="Cambria" pitchFamily="34" charset="-120"/>
              </a:rPr>
              <a:t>Tatay's Farm, Batbat</a:t>
            </a:r>
            <a:endParaRPr lang="en-US" sz="3000" dirty="0"/>
          </a:p>
        </p:txBody>
      </p:sp>
      <p:sp>
        <p:nvSpPr>
          <p:cNvPr id="4" name="Text 2"/>
          <p:cNvSpPr txBox="1"/>
          <p:nvPr/>
        </p:nvSpPr>
        <p:spPr>
          <a:xfrm>
            <a:off x="548640" y="1463040"/>
            <a:ext cx="11064240" cy="548640"/>
          </a:xfrm>
          <a:prstGeom prst="rect">
            <a:avLst/>
          </a:prstGeom>
          <a:noFill/>
          <a:ln/>
        </p:spPr>
        <p:txBody>
          <a:bodyPr wrap="square" lIns="0" tIns="0" rIns="0" bIns="0" rtlCol="0" anchor="ctr"/>
          <a:lstStyle/>
          <a:p>
            <a:pPr indent="0" marL="0">
              <a:lnSpc>
                <a:spcPct val="120000"/>
              </a:lnSpc>
              <a:buNone/>
            </a:pPr>
            <a:r>
              <a:rPr lang="en-US" sz="1400" i="1" dirty="0">
                <a:solidFill>
                  <a:srgbClr val="6B5745"/>
                </a:solidFill>
                <a:latin typeface="Calibri" pitchFamily="34" charset="0"/>
                <a:ea typeface="Calibri" pitchFamily="34" charset="-122"/>
                <a:cs typeface="Calibri" pitchFamily="34" charset="-120"/>
              </a:rPr>
              <a:t>We visited Tatay's 2.5-hectare cacao farm in the Batbat area to see the pest and disease crisis firsthand.</a:t>
            </a:r>
            <a:endParaRPr lang="en-US" sz="1400" dirty="0"/>
          </a:p>
        </p:txBody>
      </p:sp>
      <p:sp>
        <p:nvSpPr>
          <p:cNvPr id="5" name="Shape 3"/>
          <p:cNvSpPr/>
          <p:nvPr/>
        </p:nvSpPr>
        <p:spPr>
          <a:xfrm>
            <a:off x="548640" y="2286000"/>
            <a:ext cx="5372100" cy="4114800"/>
          </a:xfrm>
          <a:prstGeom prst="roundRect">
            <a:avLst>
              <a:gd name="adj" fmla="val 1333"/>
            </a:avLst>
          </a:prstGeom>
          <a:solidFill>
            <a:srgbClr val="F4F1EC"/>
          </a:solidFill>
          <a:ln w="19050">
            <a:solidFill>
              <a:srgbClr val="E4DCD1"/>
            </a:solidFill>
            <a:prstDash val="dash"/>
          </a:ln>
        </p:spPr>
      </p:sp>
      <p:sp>
        <p:nvSpPr>
          <p:cNvPr id="6" name="Text 4"/>
          <p:cNvSpPr txBox="1"/>
          <p:nvPr/>
        </p:nvSpPr>
        <p:spPr>
          <a:xfrm>
            <a:off x="548640" y="3840480"/>
            <a:ext cx="5372100" cy="548640"/>
          </a:xfrm>
          <a:prstGeom prst="rect">
            <a:avLst/>
          </a:prstGeom>
          <a:noFill/>
          <a:ln/>
        </p:spPr>
        <p:txBody>
          <a:bodyPr wrap="square" lIns="0" tIns="0" rIns="0" bIns="0" rtlCol="0" anchor="ctr"/>
          <a:lstStyle/>
          <a:p>
            <a:pPr algn="ctr" indent="0" marL="0">
              <a:buNone/>
            </a:pPr>
            <a:r>
              <a:rPr lang="en-US" sz="2600" dirty="0">
                <a:solidFill>
                  <a:srgbClr val="6B5745"/>
                </a:solidFill>
              </a:rPr>
              <a:t>🖼</a:t>
            </a:r>
            <a:endParaRPr lang="en-US" sz="2600" dirty="0"/>
          </a:p>
        </p:txBody>
      </p:sp>
      <p:sp>
        <p:nvSpPr>
          <p:cNvPr id="7" name="Text 5"/>
          <p:cNvSpPr txBox="1"/>
          <p:nvPr/>
        </p:nvSpPr>
        <p:spPr>
          <a:xfrm>
            <a:off x="822960" y="4389120"/>
            <a:ext cx="4823460" cy="548640"/>
          </a:xfrm>
          <a:prstGeom prst="rect">
            <a:avLst/>
          </a:prstGeom>
          <a:noFill/>
          <a:ln/>
        </p:spPr>
        <p:txBody>
          <a:bodyPr wrap="square" lIns="0" tIns="0" rIns="0" bIns="0" rtlCol="0" anchor="t"/>
          <a:lstStyle/>
          <a:p>
            <a:pPr algn="ctr" indent="0" marL="0">
              <a:lnSpc>
                <a:spcPct val="115000"/>
              </a:lnSpc>
              <a:buNone/>
            </a:pPr>
            <a:r>
              <a:rPr lang="en-US" sz="1100" i="1" dirty="0">
                <a:solidFill>
                  <a:srgbClr val="6B5745"/>
                </a:solidFill>
                <a:latin typeface="Calibri" pitchFamily="34" charset="0"/>
                <a:ea typeface="Calibri" pitchFamily="34" charset="-122"/>
                <a:cs typeface="Calibri" pitchFamily="34" charset="-120"/>
              </a:rPr>
              <a:t>[ image placeholder — arriving at Tatay's farm, Batbat ]</a:t>
            </a:r>
            <a:endParaRPr lang="en-US" sz="1100" dirty="0"/>
          </a:p>
        </p:txBody>
      </p:sp>
      <p:sp>
        <p:nvSpPr>
          <p:cNvPr id="8" name="Shape 6"/>
          <p:cNvSpPr/>
          <p:nvPr/>
        </p:nvSpPr>
        <p:spPr>
          <a:xfrm>
            <a:off x="6240780" y="2286000"/>
            <a:ext cx="5372100" cy="4114800"/>
          </a:xfrm>
          <a:prstGeom prst="roundRect">
            <a:avLst>
              <a:gd name="adj" fmla="val 1333"/>
            </a:avLst>
          </a:prstGeom>
          <a:solidFill>
            <a:srgbClr val="F4F1EC"/>
          </a:solidFill>
          <a:ln w="19050">
            <a:solidFill>
              <a:srgbClr val="E4DCD1"/>
            </a:solidFill>
            <a:prstDash val="dash"/>
          </a:ln>
        </p:spPr>
      </p:sp>
      <p:sp>
        <p:nvSpPr>
          <p:cNvPr id="9" name="Text 7"/>
          <p:cNvSpPr txBox="1"/>
          <p:nvPr/>
        </p:nvSpPr>
        <p:spPr>
          <a:xfrm>
            <a:off x="6240780" y="3840480"/>
            <a:ext cx="5372100" cy="548640"/>
          </a:xfrm>
          <a:prstGeom prst="rect">
            <a:avLst/>
          </a:prstGeom>
          <a:noFill/>
          <a:ln/>
        </p:spPr>
        <p:txBody>
          <a:bodyPr wrap="square" lIns="0" tIns="0" rIns="0" bIns="0" rtlCol="0" anchor="ctr"/>
          <a:lstStyle/>
          <a:p>
            <a:pPr algn="ctr" indent="0" marL="0">
              <a:buNone/>
            </a:pPr>
            <a:r>
              <a:rPr lang="en-US" sz="2600" dirty="0">
                <a:solidFill>
                  <a:srgbClr val="6B5745"/>
                </a:solidFill>
              </a:rPr>
              <a:t>🖼</a:t>
            </a:r>
            <a:endParaRPr lang="en-US" sz="2600" dirty="0"/>
          </a:p>
        </p:txBody>
      </p:sp>
      <p:sp>
        <p:nvSpPr>
          <p:cNvPr id="10" name="Text 8"/>
          <p:cNvSpPr txBox="1"/>
          <p:nvPr/>
        </p:nvSpPr>
        <p:spPr>
          <a:xfrm>
            <a:off x="6515100" y="4389120"/>
            <a:ext cx="4823460" cy="548640"/>
          </a:xfrm>
          <a:prstGeom prst="rect">
            <a:avLst/>
          </a:prstGeom>
          <a:noFill/>
          <a:ln/>
        </p:spPr>
        <p:txBody>
          <a:bodyPr wrap="square" lIns="0" tIns="0" rIns="0" bIns="0" rtlCol="0" anchor="t"/>
          <a:lstStyle/>
          <a:p>
            <a:pPr algn="ctr" indent="0" marL="0">
              <a:lnSpc>
                <a:spcPct val="115000"/>
              </a:lnSpc>
              <a:buNone/>
            </a:pPr>
            <a:r>
              <a:rPr lang="en-US" sz="1100" i="1" dirty="0">
                <a:solidFill>
                  <a:srgbClr val="6B5745"/>
                </a:solidFill>
                <a:latin typeface="Calibri" pitchFamily="34" charset="0"/>
                <a:ea typeface="Calibri" pitchFamily="34" charset="-122"/>
                <a:cs typeface="Calibri" pitchFamily="34" charset="-120"/>
              </a:rPr>
              <a:t>[ image placeholder — Tatay's cacao trees / farm overview ]</a:t>
            </a:r>
            <a:endParaRPr lang="en-US" sz="1100" dirty="0"/>
          </a:p>
        </p:txBody>
      </p:sp>
      <p:sp>
        <p:nvSpPr>
          <p:cNvPr id="11" name="Text 9"/>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06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FIELD VISIT · AUGUST 26 — TATAY'S FARM, BATBAT</a:t>
            </a:r>
            <a:endParaRPr lang="en-US" sz="1100" dirty="0"/>
          </a:p>
        </p:txBody>
      </p:sp>
      <p:sp>
        <p:nvSpPr>
          <p:cNvPr id="3" name="Text 1"/>
          <p:cNvSpPr txBox="1"/>
          <p:nvPr/>
        </p:nvSpPr>
        <p:spPr>
          <a:xfrm>
            <a:off x="548640" y="777240"/>
            <a:ext cx="11064240" cy="594360"/>
          </a:xfrm>
          <a:prstGeom prst="rect">
            <a:avLst/>
          </a:prstGeom>
          <a:noFill/>
          <a:ln/>
        </p:spPr>
        <p:txBody>
          <a:bodyPr wrap="square" lIns="0" tIns="0" rIns="0" bIns="0" rtlCol="0" anchor="ctr"/>
          <a:lstStyle/>
          <a:p>
            <a:pPr indent="0" marL="0">
              <a:buNone/>
            </a:pPr>
            <a:r>
              <a:rPr lang="en-US" sz="2800" b="1" dirty="0">
                <a:solidFill>
                  <a:srgbClr val="3D2B1F"/>
                </a:solidFill>
                <a:latin typeface="Cambria" pitchFamily="34" charset="0"/>
                <a:ea typeface="Cambria" pitchFamily="34" charset="-122"/>
                <a:cs typeface="Cambria" pitchFamily="34" charset="-120"/>
              </a:rPr>
              <a:t>The numbers from Batbat</a:t>
            </a:r>
            <a:endParaRPr lang="en-US" sz="2800" dirty="0"/>
          </a:p>
        </p:txBody>
      </p:sp>
      <p:graphicFrame>
        <p:nvGraphicFramePr>
          <p:cNvPr id="4" name="Chart 0" descr=""/>
          <p:cNvGraphicFramePr/>
          <p:nvPr/>
        </p:nvGraphicFramePr>
        <p:xfrm>
          <a:off x="548640" y="1600200"/>
          <a:ext cx="352044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343400" y="1600200"/>
          <a:ext cx="3520440" cy="420624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8138160" y="1600200"/>
          <a:ext cx="3520440" cy="4206240"/>
        </p:xfrm>
        <a:graphic xmlns:a="http://schemas.openxmlformats.org/drawingml/2006/main">
          <a:graphicData uri="http://schemas.openxmlformats.org/drawingml/2006/chart">
            <c:chart xmlns:c="http://schemas.openxmlformats.org/drawingml/2006/chart" r:id="rId3"/>
          </a:graphicData>
        </a:graphic>
      </p:graphicFrame>
      <p:sp>
        <p:nvSpPr>
          <p:cNvPr id="7" name="Text 2"/>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50" i="1" dirty="0">
                <a:solidFill>
                  <a:srgbClr val="6B5745"/>
                </a:solidFill>
                <a:latin typeface="Calibri" pitchFamily="34" charset="0"/>
                <a:ea typeface="Calibri" pitchFamily="34" charset="-122"/>
                <a:cs typeface="Calibri" pitchFamily="34" charset="-120"/>
              </a:rPr>
              <a:t>Pests/disease shown at the midpoint of the reported 80–100% range. Source: Muravah Foundation interview + Tatay's own account.</a:t>
            </a:r>
            <a:endParaRPr lang="en-US" sz="1050" dirty="0"/>
          </a:p>
        </p:txBody>
      </p:sp>
      <p:sp>
        <p:nvSpPr>
          <p:cNvPr id="8" name="Text 3"/>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07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FIELD VISIT · AUGUST 27</a:t>
            </a:r>
            <a:endParaRPr lang="en-US" sz="1100" dirty="0"/>
          </a:p>
        </p:txBody>
      </p:sp>
      <p:sp>
        <p:nvSpPr>
          <p:cNvPr id="3" name="Text 1"/>
          <p:cNvSpPr txBox="1"/>
          <p:nvPr/>
        </p:nvSpPr>
        <p:spPr>
          <a:xfrm>
            <a:off x="548640" y="777240"/>
            <a:ext cx="11064240" cy="685800"/>
          </a:xfrm>
          <a:prstGeom prst="rect">
            <a:avLst/>
          </a:prstGeom>
          <a:noFill/>
          <a:ln/>
        </p:spPr>
        <p:txBody>
          <a:bodyPr wrap="square" lIns="0" tIns="0" rIns="0" bIns="0" rtlCol="0" anchor="ctr"/>
          <a:lstStyle/>
          <a:p>
            <a:pPr indent="0" marL="0">
              <a:buNone/>
            </a:pPr>
            <a:r>
              <a:rPr lang="en-US" sz="3000" b="1" dirty="0">
                <a:solidFill>
                  <a:srgbClr val="3D2B1F"/>
                </a:solidFill>
                <a:latin typeface="Cambria" pitchFamily="34" charset="0"/>
                <a:ea typeface="Cambria" pitchFamily="34" charset="-122"/>
                <a:cs typeface="Cambria" pitchFamily="34" charset="-120"/>
              </a:rPr>
              <a:t>Rice, Dairy, Bamboo &amp; Honey Farms</a:t>
            </a:r>
            <a:endParaRPr lang="en-US" sz="3000" dirty="0"/>
          </a:p>
        </p:txBody>
      </p:sp>
      <p:sp>
        <p:nvSpPr>
          <p:cNvPr id="4" name="Text 2"/>
          <p:cNvSpPr txBox="1"/>
          <p:nvPr/>
        </p:nvSpPr>
        <p:spPr>
          <a:xfrm>
            <a:off x="548640" y="1463040"/>
            <a:ext cx="11064240" cy="548640"/>
          </a:xfrm>
          <a:prstGeom prst="rect">
            <a:avLst/>
          </a:prstGeom>
          <a:noFill/>
          <a:ln/>
        </p:spPr>
        <p:txBody>
          <a:bodyPr wrap="square" lIns="0" tIns="0" rIns="0" bIns="0" rtlCol="0" anchor="ctr"/>
          <a:lstStyle/>
          <a:p>
            <a:pPr indent="0" marL="0">
              <a:lnSpc>
                <a:spcPct val="120000"/>
              </a:lnSpc>
              <a:buNone/>
            </a:pPr>
            <a:r>
              <a:rPr lang="en-US" sz="1400" i="1" dirty="0">
                <a:solidFill>
                  <a:srgbClr val="6B5745"/>
                </a:solidFill>
                <a:latin typeface="Calibri" pitchFamily="34" charset="0"/>
                <a:ea typeface="Calibri" pitchFamily="34" charset="-122"/>
                <a:cs typeface="Calibri" pitchFamily="34" charset="-120"/>
              </a:rPr>
              <a:t>We visited Tatay Aldavis's thriving rice/dairy farm and farm school, a bamboo farm, and stingless-bee honey producers to see what's already working in Bicol agriculture.</a:t>
            </a:r>
            <a:endParaRPr lang="en-US" sz="1400" dirty="0"/>
          </a:p>
        </p:txBody>
      </p:sp>
      <p:sp>
        <p:nvSpPr>
          <p:cNvPr id="5" name="Shape 3"/>
          <p:cNvSpPr/>
          <p:nvPr/>
        </p:nvSpPr>
        <p:spPr>
          <a:xfrm>
            <a:off x="548640" y="2286000"/>
            <a:ext cx="5372100" cy="4114800"/>
          </a:xfrm>
          <a:prstGeom prst="roundRect">
            <a:avLst>
              <a:gd name="adj" fmla="val 1333"/>
            </a:avLst>
          </a:prstGeom>
          <a:solidFill>
            <a:srgbClr val="F4F1EC"/>
          </a:solidFill>
          <a:ln w="19050">
            <a:solidFill>
              <a:srgbClr val="E4DCD1"/>
            </a:solidFill>
            <a:prstDash val="dash"/>
          </a:ln>
        </p:spPr>
      </p:sp>
      <p:sp>
        <p:nvSpPr>
          <p:cNvPr id="6" name="Text 4"/>
          <p:cNvSpPr txBox="1"/>
          <p:nvPr/>
        </p:nvSpPr>
        <p:spPr>
          <a:xfrm>
            <a:off x="548640" y="3840480"/>
            <a:ext cx="5372100" cy="548640"/>
          </a:xfrm>
          <a:prstGeom prst="rect">
            <a:avLst/>
          </a:prstGeom>
          <a:noFill/>
          <a:ln/>
        </p:spPr>
        <p:txBody>
          <a:bodyPr wrap="square" lIns="0" tIns="0" rIns="0" bIns="0" rtlCol="0" anchor="ctr"/>
          <a:lstStyle/>
          <a:p>
            <a:pPr algn="ctr" indent="0" marL="0">
              <a:buNone/>
            </a:pPr>
            <a:r>
              <a:rPr lang="en-US" sz="2600" dirty="0">
                <a:solidFill>
                  <a:srgbClr val="6B5745"/>
                </a:solidFill>
              </a:rPr>
              <a:t>🖼</a:t>
            </a:r>
            <a:endParaRPr lang="en-US" sz="2600" dirty="0"/>
          </a:p>
        </p:txBody>
      </p:sp>
      <p:sp>
        <p:nvSpPr>
          <p:cNvPr id="7" name="Text 5"/>
          <p:cNvSpPr txBox="1"/>
          <p:nvPr/>
        </p:nvSpPr>
        <p:spPr>
          <a:xfrm>
            <a:off x="822960" y="4389120"/>
            <a:ext cx="4823460" cy="548640"/>
          </a:xfrm>
          <a:prstGeom prst="rect">
            <a:avLst/>
          </a:prstGeom>
          <a:noFill/>
          <a:ln/>
        </p:spPr>
        <p:txBody>
          <a:bodyPr wrap="square" lIns="0" tIns="0" rIns="0" bIns="0" rtlCol="0" anchor="t"/>
          <a:lstStyle/>
          <a:p>
            <a:pPr algn="ctr" indent="0" marL="0">
              <a:lnSpc>
                <a:spcPct val="115000"/>
              </a:lnSpc>
              <a:buNone/>
            </a:pPr>
            <a:r>
              <a:rPr lang="en-US" sz="1100" i="1" dirty="0">
                <a:solidFill>
                  <a:srgbClr val="6B5745"/>
                </a:solidFill>
                <a:latin typeface="Calibri" pitchFamily="34" charset="0"/>
                <a:ea typeface="Calibri" pitchFamily="34" charset="-122"/>
                <a:cs typeface="Calibri" pitchFamily="34" charset="-120"/>
              </a:rPr>
              <a:t>[ image placeholder — rice/dairy farm &amp; farm school ]</a:t>
            </a:r>
            <a:endParaRPr lang="en-US" sz="1100" dirty="0"/>
          </a:p>
        </p:txBody>
      </p:sp>
      <p:sp>
        <p:nvSpPr>
          <p:cNvPr id="8" name="Shape 6"/>
          <p:cNvSpPr/>
          <p:nvPr/>
        </p:nvSpPr>
        <p:spPr>
          <a:xfrm>
            <a:off x="6240780" y="2286000"/>
            <a:ext cx="5372100" cy="4114800"/>
          </a:xfrm>
          <a:prstGeom prst="roundRect">
            <a:avLst>
              <a:gd name="adj" fmla="val 1333"/>
            </a:avLst>
          </a:prstGeom>
          <a:solidFill>
            <a:srgbClr val="F4F1EC"/>
          </a:solidFill>
          <a:ln w="19050">
            <a:solidFill>
              <a:srgbClr val="E4DCD1"/>
            </a:solidFill>
            <a:prstDash val="dash"/>
          </a:ln>
        </p:spPr>
      </p:sp>
      <p:sp>
        <p:nvSpPr>
          <p:cNvPr id="9" name="Text 7"/>
          <p:cNvSpPr txBox="1"/>
          <p:nvPr/>
        </p:nvSpPr>
        <p:spPr>
          <a:xfrm>
            <a:off x="6240780" y="3840480"/>
            <a:ext cx="5372100" cy="548640"/>
          </a:xfrm>
          <a:prstGeom prst="rect">
            <a:avLst/>
          </a:prstGeom>
          <a:noFill/>
          <a:ln/>
        </p:spPr>
        <p:txBody>
          <a:bodyPr wrap="square" lIns="0" tIns="0" rIns="0" bIns="0" rtlCol="0" anchor="ctr"/>
          <a:lstStyle/>
          <a:p>
            <a:pPr algn="ctr" indent="0" marL="0">
              <a:buNone/>
            </a:pPr>
            <a:r>
              <a:rPr lang="en-US" sz="2600" dirty="0">
                <a:solidFill>
                  <a:srgbClr val="6B5745"/>
                </a:solidFill>
              </a:rPr>
              <a:t>🖼</a:t>
            </a:r>
            <a:endParaRPr lang="en-US" sz="2600" dirty="0"/>
          </a:p>
        </p:txBody>
      </p:sp>
      <p:sp>
        <p:nvSpPr>
          <p:cNvPr id="10" name="Text 8"/>
          <p:cNvSpPr txBox="1"/>
          <p:nvPr/>
        </p:nvSpPr>
        <p:spPr>
          <a:xfrm>
            <a:off x="6515100" y="4389120"/>
            <a:ext cx="4823460" cy="548640"/>
          </a:xfrm>
          <a:prstGeom prst="rect">
            <a:avLst/>
          </a:prstGeom>
          <a:noFill/>
          <a:ln/>
        </p:spPr>
        <p:txBody>
          <a:bodyPr wrap="square" lIns="0" tIns="0" rIns="0" bIns="0" rtlCol="0" anchor="t"/>
          <a:lstStyle/>
          <a:p>
            <a:pPr algn="ctr" indent="0" marL="0">
              <a:lnSpc>
                <a:spcPct val="115000"/>
              </a:lnSpc>
              <a:buNone/>
            </a:pPr>
            <a:r>
              <a:rPr lang="en-US" sz="1100" i="1" dirty="0">
                <a:solidFill>
                  <a:srgbClr val="6B5745"/>
                </a:solidFill>
                <a:latin typeface="Calibri" pitchFamily="34" charset="0"/>
                <a:ea typeface="Calibri" pitchFamily="34" charset="-122"/>
                <a:cs typeface="Calibri" pitchFamily="34" charset="-120"/>
              </a:rPr>
              <a:t>[ image placeholder — bamboo farm / honey producers ]</a:t>
            </a:r>
            <a:endParaRPr lang="en-US" sz="1100" dirty="0"/>
          </a:p>
        </p:txBody>
      </p:sp>
      <p:sp>
        <p:nvSpPr>
          <p:cNvPr id="11" name="Text 9"/>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08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FIELD VISIT · AUGUST 28</a:t>
            </a:r>
            <a:endParaRPr lang="en-US" sz="1100" dirty="0"/>
          </a:p>
        </p:txBody>
      </p:sp>
      <p:sp>
        <p:nvSpPr>
          <p:cNvPr id="3" name="Text 1"/>
          <p:cNvSpPr txBox="1"/>
          <p:nvPr/>
        </p:nvSpPr>
        <p:spPr>
          <a:xfrm>
            <a:off x="548640" y="777240"/>
            <a:ext cx="11064240" cy="685800"/>
          </a:xfrm>
          <a:prstGeom prst="rect">
            <a:avLst/>
          </a:prstGeom>
          <a:noFill/>
          <a:ln/>
        </p:spPr>
        <p:txBody>
          <a:bodyPr wrap="square" lIns="0" tIns="0" rIns="0" bIns="0" rtlCol="0" anchor="ctr"/>
          <a:lstStyle/>
          <a:p>
            <a:pPr indent="0" marL="0">
              <a:buNone/>
            </a:pPr>
            <a:r>
              <a:rPr lang="en-US" sz="3000" b="1" dirty="0">
                <a:solidFill>
                  <a:srgbClr val="3D2B1F"/>
                </a:solidFill>
                <a:latin typeface="Cambria" pitchFamily="34" charset="0"/>
                <a:ea typeface="Cambria" pitchFamily="34" charset="-122"/>
                <a:cs typeface="Cambria" pitchFamily="34" charset="-120"/>
              </a:rPr>
              <a:t>Solar, Wind &amp; Agritourism</a:t>
            </a:r>
            <a:endParaRPr lang="en-US" sz="3000" dirty="0"/>
          </a:p>
        </p:txBody>
      </p:sp>
      <p:sp>
        <p:nvSpPr>
          <p:cNvPr id="4" name="Text 2"/>
          <p:cNvSpPr txBox="1"/>
          <p:nvPr/>
        </p:nvSpPr>
        <p:spPr>
          <a:xfrm>
            <a:off x="548640" y="1463040"/>
            <a:ext cx="11064240" cy="548640"/>
          </a:xfrm>
          <a:prstGeom prst="rect">
            <a:avLst/>
          </a:prstGeom>
          <a:noFill/>
          <a:ln/>
        </p:spPr>
        <p:txBody>
          <a:bodyPr wrap="square" lIns="0" tIns="0" rIns="0" bIns="0" rtlCol="0" anchor="ctr"/>
          <a:lstStyle/>
          <a:p>
            <a:pPr indent="0" marL="0">
              <a:lnSpc>
                <a:spcPct val="120000"/>
              </a:lnSpc>
              <a:buNone/>
            </a:pPr>
            <a:r>
              <a:rPr lang="en-US" sz="1400" i="1" dirty="0">
                <a:solidFill>
                  <a:srgbClr val="6B5745"/>
                </a:solidFill>
                <a:latin typeface="Calibri" pitchFamily="34" charset="0"/>
                <a:ea typeface="Calibri" pitchFamily="34" charset="-122"/>
                <a:cs typeface="Calibri" pitchFamily="34" charset="-120"/>
              </a:rPr>
              <a:t>From the Zambales solar farm's agrivoltaics research and solar panels to the San Miguel Bay wind project and a youth agritourism program — Bicol is investing in climate-resilient infrastructure.</a:t>
            </a:r>
            <a:endParaRPr lang="en-US" sz="1400" dirty="0"/>
          </a:p>
        </p:txBody>
      </p:sp>
      <p:sp>
        <p:nvSpPr>
          <p:cNvPr id="5" name="Shape 3"/>
          <p:cNvSpPr/>
          <p:nvPr/>
        </p:nvSpPr>
        <p:spPr>
          <a:xfrm>
            <a:off x="548640" y="2286000"/>
            <a:ext cx="5372100" cy="4114800"/>
          </a:xfrm>
          <a:prstGeom prst="roundRect">
            <a:avLst>
              <a:gd name="adj" fmla="val 1333"/>
            </a:avLst>
          </a:prstGeom>
          <a:solidFill>
            <a:srgbClr val="F4F1EC"/>
          </a:solidFill>
          <a:ln w="19050">
            <a:solidFill>
              <a:srgbClr val="E4DCD1"/>
            </a:solidFill>
            <a:prstDash val="dash"/>
          </a:ln>
        </p:spPr>
      </p:sp>
      <p:sp>
        <p:nvSpPr>
          <p:cNvPr id="6" name="Text 4"/>
          <p:cNvSpPr txBox="1"/>
          <p:nvPr/>
        </p:nvSpPr>
        <p:spPr>
          <a:xfrm>
            <a:off x="548640" y="3840480"/>
            <a:ext cx="5372100" cy="548640"/>
          </a:xfrm>
          <a:prstGeom prst="rect">
            <a:avLst/>
          </a:prstGeom>
          <a:noFill/>
          <a:ln/>
        </p:spPr>
        <p:txBody>
          <a:bodyPr wrap="square" lIns="0" tIns="0" rIns="0" bIns="0" rtlCol="0" anchor="ctr"/>
          <a:lstStyle/>
          <a:p>
            <a:pPr algn="ctr" indent="0" marL="0">
              <a:buNone/>
            </a:pPr>
            <a:r>
              <a:rPr lang="en-US" sz="2600" dirty="0">
                <a:solidFill>
                  <a:srgbClr val="6B5745"/>
                </a:solidFill>
              </a:rPr>
              <a:t>🖼</a:t>
            </a:r>
            <a:endParaRPr lang="en-US" sz="2600" dirty="0"/>
          </a:p>
        </p:txBody>
      </p:sp>
      <p:sp>
        <p:nvSpPr>
          <p:cNvPr id="7" name="Text 5"/>
          <p:cNvSpPr txBox="1"/>
          <p:nvPr/>
        </p:nvSpPr>
        <p:spPr>
          <a:xfrm>
            <a:off x="822960" y="4389120"/>
            <a:ext cx="4823460" cy="548640"/>
          </a:xfrm>
          <a:prstGeom prst="rect">
            <a:avLst/>
          </a:prstGeom>
          <a:noFill/>
          <a:ln/>
        </p:spPr>
        <p:txBody>
          <a:bodyPr wrap="square" lIns="0" tIns="0" rIns="0" bIns="0" rtlCol="0" anchor="t"/>
          <a:lstStyle/>
          <a:p>
            <a:pPr algn="ctr" indent="0" marL="0">
              <a:lnSpc>
                <a:spcPct val="115000"/>
              </a:lnSpc>
              <a:buNone/>
            </a:pPr>
            <a:r>
              <a:rPr lang="en-US" sz="1100" i="1" dirty="0">
                <a:solidFill>
                  <a:srgbClr val="6B5745"/>
                </a:solidFill>
                <a:latin typeface="Calibri" pitchFamily="34" charset="0"/>
                <a:ea typeface="Calibri" pitchFamily="34" charset="-122"/>
                <a:cs typeface="Calibri" pitchFamily="34" charset="-120"/>
              </a:rPr>
              <a:t>[ image placeholder — Zambales solar farm / agrivoltaics ]</a:t>
            </a:r>
            <a:endParaRPr lang="en-US" sz="1100" dirty="0"/>
          </a:p>
        </p:txBody>
      </p:sp>
      <p:sp>
        <p:nvSpPr>
          <p:cNvPr id="8" name="Shape 6"/>
          <p:cNvSpPr/>
          <p:nvPr/>
        </p:nvSpPr>
        <p:spPr>
          <a:xfrm>
            <a:off x="6240780" y="2286000"/>
            <a:ext cx="5372100" cy="4114800"/>
          </a:xfrm>
          <a:prstGeom prst="roundRect">
            <a:avLst>
              <a:gd name="adj" fmla="val 1333"/>
            </a:avLst>
          </a:prstGeom>
          <a:solidFill>
            <a:srgbClr val="F4F1EC"/>
          </a:solidFill>
          <a:ln w="19050">
            <a:solidFill>
              <a:srgbClr val="E4DCD1"/>
            </a:solidFill>
            <a:prstDash val="dash"/>
          </a:ln>
        </p:spPr>
      </p:sp>
      <p:sp>
        <p:nvSpPr>
          <p:cNvPr id="9" name="Text 7"/>
          <p:cNvSpPr txBox="1"/>
          <p:nvPr/>
        </p:nvSpPr>
        <p:spPr>
          <a:xfrm>
            <a:off x="6240780" y="3840480"/>
            <a:ext cx="5372100" cy="548640"/>
          </a:xfrm>
          <a:prstGeom prst="rect">
            <a:avLst/>
          </a:prstGeom>
          <a:noFill/>
          <a:ln/>
        </p:spPr>
        <p:txBody>
          <a:bodyPr wrap="square" lIns="0" tIns="0" rIns="0" bIns="0" rtlCol="0" anchor="ctr"/>
          <a:lstStyle/>
          <a:p>
            <a:pPr algn="ctr" indent="0" marL="0">
              <a:buNone/>
            </a:pPr>
            <a:r>
              <a:rPr lang="en-US" sz="2600" dirty="0">
                <a:solidFill>
                  <a:srgbClr val="6B5745"/>
                </a:solidFill>
              </a:rPr>
              <a:t>🖼</a:t>
            </a:r>
            <a:endParaRPr lang="en-US" sz="2600" dirty="0"/>
          </a:p>
        </p:txBody>
      </p:sp>
      <p:sp>
        <p:nvSpPr>
          <p:cNvPr id="10" name="Text 8"/>
          <p:cNvSpPr txBox="1"/>
          <p:nvPr/>
        </p:nvSpPr>
        <p:spPr>
          <a:xfrm>
            <a:off x="6515100" y="4389120"/>
            <a:ext cx="4823460" cy="548640"/>
          </a:xfrm>
          <a:prstGeom prst="rect">
            <a:avLst/>
          </a:prstGeom>
          <a:noFill/>
          <a:ln/>
        </p:spPr>
        <p:txBody>
          <a:bodyPr wrap="square" lIns="0" tIns="0" rIns="0" bIns="0" rtlCol="0" anchor="t"/>
          <a:lstStyle/>
          <a:p>
            <a:pPr algn="ctr" indent="0" marL="0">
              <a:lnSpc>
                <a:spcPct val="115000"/>
              </a:lnSpc>
              <a:buNone/>
            </a:pPr>
            <a:r>
              <a:rPr lang="en-US" sz="1100" i="1" dirty="0">
                <a:solidFill>
                  <a:srgbClr val="6B5745"/>
                </a:solidFill>
                <a:latin typeface="Calibri" pitchFamily="34" charset="0"/>
                <a:ea typeface="Calibri" pitchFamily="34" charset="-122"/>
                <a:cs typeface="Calibri" pitchFamily="34" charset="-120"/>
              </a:rPr>
              <a:t>[ image placeholder — youth agritourism program ]</a:t>
            </a:r>
            <a:endParaRPr lang="en-US" sz="1100" dirty="0"/>
          </a:p>
        </p:txBody>
      </p:sp>
      <p:sp>
        <p:nvSpPr>
          <p:cNvPr id="11" name="Text 9"/>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09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FIELD VISIT · AUGUST 28 — SOLAR &amp; AGRIVOLTAICS</a:t>
            </a:r>
            <a:endParaRPr lang="en-US" sz="1100" dirty="0"/>
          </a:p>
        </p:txBody>
      </p:sp>
      <p:sp>
        <p:nvSpPr>
          <p:cNvPr id="3" name="Text 1"/>
          <p:cNvSpPr txBox="1"/>
          <p:nvPr/>
        </p:nvSpPr>
        <p:spPr>
          <a:xfrm>
            <a:off x="548640" y="777240"/>
            <a:ext cx="11064240" cy="594360"/>
          </a:xfrm>
          <a:prstGeom prst="rect">
            <a:avLst/>
          </a:prstGeom>
          <a:noFill/>
          <a:ln/>
        </p:spPr>
        <p:txBody>
          <a:bodyPr wrap="square" lIns="0" tIns="0" rIns="0" bIns="0" rtlCol="0" anchor="ctr"/>
          <a:lstStyle/>
          <a:p>
            <a:pPr indent="0" marL="0">
              <a:buNone/>
            </a:pPr>
            <a:r>
              <a:rPr lang="en-US" sz="2600" b="1" dirty="0">
                <a:solidFill>
                  <a:srgbClr val="3D2B1F"/>
                </a:solidFill>
                <a:latin typeface="Cambria" pitchFamily="34" charset="0"/>
                <a:ea typeface="Cambria" pitchFamily="34" charset="-122"/>
                <a:cs typeface="Cambria" pitchFamily="34" charset="-120"/>
              </a:rPr>
              <a:t>What the Zambales solar precedent tells us</a:t>
            </a:r>
            <a:endParaRPr lang="en-US" sz="2600" dirty="0"/>
          </a:p>
        </p:txBody>
      </p:sp>
      <p:graphicFrame>
        <p:nvGraphicFramePr>
          <p:cNvPr id="4" name="Chart 0" descr=""/>
          <p:cNvGraphicFramePr/>
          <p:nvPr/>
        </p:nvGraphicFramePr>
        <p:xfrm>
          <a:off x="548640" y="1600200"/>
          <a:ext cx="352044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343400" y="1600200"/>
          <a:ext cx="3520440" cy="420624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8138160" y="1600200"/>
          <a:ext cx="3520440" cy="4206240"/>
        </p:xfrm>
        <a:graphic xmlns:a="http://schemas.openxmlformats.org/drawingml/2006/main">
          <a:graphicData uri="http://schemas.openxmlformats.org/drawingml/2006/chart">
            <c:chart xmlns:c="http://schemas.openxmlformats.org/drawingml/2006/chart" r:id="rId3"/>
          </a:graphicData>
        </a:graphic>
      </p:graphicFrame>
      <p:sp>
        <p:nvSpPr>
          <p:cNvPr id="7" name="Text 2"/>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50" i="1" dirty="0">
                <a:solidFill>
                  <a:srgbClr val="6B5745"/>
                </a:solidFill>
                <a:latin typeface="Calibri" pitchFamily="34" charset="0"/>
                <a:ea typeface="Calibri" pitchFamily="34" charset="-122"/>
                <a:cs typeface="Calibri" pitchFamily="34" charset="-120"/>
              </a:rPr>
              <a:t>Orientation chart is a general engineering estimate for a tropical latitude like Bicol's, not a cited figure. Efficiency/waste figures per the field notes.</a:t>
            </a:r>
            <a:endParaRPr lang="en-US" sz="1050" dirty="0"/>
          </a:p>
        </p:txBody>
      </p:sp>
      <p:sp>
        <p:nvSpPr>
          <p:cNvPr id="8" name="Text 3"/>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DESIGN CONSIDERATION</a:t>
            </a:r>
            <a:endParaRPr lang="en-US" sz="11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2800" b="1" dirty="0">
                <a:solidFill>
                  <a:srgbClr val="3D2B1F"/>
                </a:solidFill>
                <a:latin typeface="Cambria" pitchFamily="34" charset="0"/>
                <a:ea typeface="Cambria" pitchFamily="34" charset="-122"/>
                <a:cs typeface="Cambria" pitchFamily="34" charset="-120"/>
              </a:rPr>
              <a:t>Vertical panels waste potential output</a:t>
            </a:r>
            <a:endParaRPr lang="en-US" sz="2800" dirty="0"/>
          </a:p>
        </p:txBody>
      </p:sp>
      <p:sp>
        <p:nvSpPr>
          <p:cNvPr id="4" name="Text 2"/>
          <p:cNvSpPr txBox="1"/>
          <p:nvPr/>
        </p:nvSpPr>
        <p:spPr>
          <a:xfrm>
            <a:off x="548640" y="1508760"/>
            <a:ext cx="11064240" cy="1371600"/>
          </a:xfrm>
          <a:prstGeom prst="rect">
            <a:avLst/>
          </a:prstGeom>
          <a:noFill/>
          <a:ln/>
        </p:spPr>
        <p:txBody>
          <a:bodyPr wrap="square" lIns="0" tIns="0" rIns="0" bIns="0" rtlCol="0" anchor="ctr"/>
          <a:lstStyle/>
          <a:p>
            <a:pPr indent="0" marL="0">
              <a:lnSpc>
                <a:spcPct val="130000"/>
              </a:lnSpc>
              <a:buNone/>
            </a:pPr>
            <a:r>
              <a:rPr lang="en-US" sz="1400" dirty="0">
                <a:solidFill>
                  <a:srgbClr val="3D2B1F"/>
                </a:solidFill>
                <a:latin typeface="Calibri" pitchFamily="34" charset="0"/>
                <a:ea typeface="Calibri" pitchFamily="34" charset="-122"/>
                <a:cs typeface="Calibri" pitchFamily="34" charset="-120"/>
              </a:rPr>
              <a:t>Mounting solar panels vertically is not the efficient way to collect sunlight — a wall-mounted panel captures noticeably less irradiance than an optimally tilted one (see the orientation chart on the previous slide: ~65% vs. 100%). This is our own engineering observation, not something a source stated in an interview, and it's a design point worth carrying into any agrivoltaic or solar-irrigation proposal built on the Zambales precedent.</a:t>
            </a:r>
            <a:endParaRPr lang="en-US" sz="1400" dirty="0"/>
          </a:p>
        </p:txBody>
      </p:sp>
      <p:sp>
        <p:nvSpPr>
          <p:cNvPr id="5" name="Shape 3"/>
          <p:cNvSpPr/>
          <p:nvPr/>
        </p:nvSpPr>
        <p:spPr>
          <a:xfrm>
            <a:off x="548640" y="3063240"/>
            <a:ext cx="11064240" cy="2971800"/>
          </a:xfrm>
          <a:prstGeom prst="roundRect">
            <a:avLst>
              <a:gd name="adj" fmla="val 1846"/>
            </a:avLst>
          </a:prstGeom>
          <a:solidFill>
            <a:srgbClr val="F4F1EC"/>
          </a:solidFill>
          <a:ln w="19050">
            <a:solidFill>
              <a:srgbClr val="E4DCD1"/>
            </a:solidFill>
            <a:prstDash val="dash"/>
          </a:ln>
        </p:spPr>
      </p:sp>
      <p:sp>
        <p:nvSpPr>
          <p:cNvPr id="6" name="Text 4"/>
          <p:cNvSpPr txBox="1"/>
          <p:nvPr/>
        </p:nvSpPr>
        <p:spPr>
          <a:xfrm>
            <a:off x="548640" y="4046220"/>
            <a:ext cx="11064240" cy="548640"/>
          </a:xfrm>
          <a:prstGeom prst="rect">
            <a:avLst/>
          </a:prstGeom>
          <a:noFill/>
          <a:ln/>
        </p:spPr>
        <p:txBody>
          <a:bodyPr wrap="square" lIns="0" tIns="0" rIns="0" bIns="0" rtlCol="0" anchor="ctr"/>
          <a:lstStyle/>
          <a:p>
            <a:pPr algn="ctr" indent="0" marL="0">
              <a:buNone/>
            </a:pPr>
            <a:r>
              <a:rPr lang="en-US" sz="2600" dirty="0">
                <a:solidFill>
                  <a:srgbClr val="6B5745"/>
                </a:solidFill>
              </a:rPr>
              <a:t>🖼</a:t>
            </a:r>
            <a:endParaRPr lang="en-US" sz="2600" dirty="0"/>
          </a:p>
        </p:txBody>
      </p:sp>
      <p:sp>
        <p:nvSpPr>
          <p:cNvPr id="7" name="Text 5"/>
          <p:cNvSpPr txBox="1"/>
          <p:nvPr/>
        </p:nvSpPr>
        <p:spPr>
          <a:xfrm>
            <a:off x="822960" y="4594860"/>
            <a:ext cx="10515600" cy="548640"/>
          </a:xfrm>
          <a:prstGeom prst="rect">
            <a:avLst/>
          </a:prstGeom>
          <a:noFill/>
          <a:ln/>
        </p:spPr>
        <p:txBody>
          <a:bodyPr wrap="square" lIns="0" tIns="0" rIns="0" bIns="0" rtlCol="0" anchor="t"/>
          <a:lstStyle/>
          <a:p>
            <a:pPr algn="ctr" indent="0" marL="0">
              <a:lnSpc>
                <a:spcPct val="115000"/>
              </a:lnSpc>
              <a:buNone/>
            </a:pPr>
            <a:r>
              <a:rPr lang="en-US" sz="1100" i="1" dirty="0">
                <a:solidFill>
                  <a:srgbClr val="6B5745"/>
                </a:solidFill>
                <a:latin typeface="Calibri" pitchFamily="34" charset="0"/>
                <a:ea typeface="Calibri" pitchFamily="34" charset="-122"/>
                <a:cs typeface="Calibri" pitchFamily="34" charset="-120"/>
              </a:rPr>
              <a:t>[ image placeholder — vertical vs. tilted solar panel comparison photo (not yet in the field notes) ]</a:t>
            </a:r>
            <a:endParaRPr lang="en-US" sz="1100" dirty="0"/>
          </a:p>
        </p:txBody>
      </p:sp>
      <p:sp>
        <p:nvSpPr>
          <p:cNvPr id="8" name="Text 6"/>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THE MAIN PROBLEM</a:t>
            </a:r>
            <a:endParaRPr lang="en-US" sz="11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2900" b="1" dirty="0">
                <a:solidFill>
                  <a:srgbClr val="3D2B1F"/>
                </a:solidFill>
                <a:latin typeface="Cambria" pitchFamily="34" charset="0"/>
                <a:ea typeface="Cambria" pitchFamily="34" charset="-122"/>
                <a:cs typeface="Cambria" pitchFamily="34" charset="-120"/>
              </a:rPr>
              <a:t>What we found at Tatay's farm</a:t>
            </a:r>
            <a:endParaRPr lang="en-US" sz="2900" dirty="0"/>
          </a:p>
        </p:txBody>
      </p:sp>
      <p:sp>
        <p:nvSpPr>
          <p:cNvPr id="4" name="Text 2"/>
          <p:cNvSpPr txBox="1"/>
          <p:nvPr/>
        </p:nvSpPr>
        <p:spPr>
          <a:xfrm>
            <a:off x="548640" y="1508760"/>
            <a:ext cx="11064240" cy="594360"/>
          </a:xfrm>
          <a:prstGeom prst="rect">
            <a:avLst/>
          </a:prstGeom>
          <a:noFill/>
          <a:ln/>
        </p:spPr>
        <p:txBody>
          <a:bodyPr wrap="square" lIns="0" tIns="0" rIns="0" bIns="0" rtlCol="0" anchor="ctr"/>
          <a:lstStyle/>
          <a:p>
            <a:pPr indent="0" marL="0">
              <a:lnSpc>
                <a:spcPct val="125000"/>
              </a:lnSpc>
              <a:buNone/>
            </a:pPr>
            <a:r>
              <a:rPr lang="en-US" sz="1350" dirty="0">
                <a:solidFill>
                  <a:srgbClr val="6B5745"/>
                </a:solidFill>
                <a:latin typeface="Calibri" pitchFamily="34" charset="0"/>
                <a:ea typeface="Calibri" pitchFamily="34" charset="-122"/>
                <a:cs typeface="Calibri" pitchFamily="34" charset="-120"/>
              </a:rPr>
              <a:t>Pest and disease pressure — not typhoon, not transport, not land tenure — is what's driving Tatay's cacao yield to nearly zero. Continuous, year-round flowering means the pressure never lets up.</a:t>
            </a:r>
            <a:endParaRPr lang="en-US" sz="1350" dirty="0"/>
          </a:p>
        </p:txBody>
      </p:sp>
      <p:sp>
        <p:nvSpPr>
          <p:cNvPr id="5" name="Shape 3"/>
          <p:cNvSpPr/>
          <p:nvPr/>
        </p:nvSpPr>
        <p:spPr>
          <a:xfrm>
            <a:off x="548640" y="2286000"/>
            <a:ext cx="3520440" cy="3566160"/>
          </a:xfrm>
          <a:prstGeom prst="roundRect">
            <a:avLst>
              <a:gd name="adj" fmla="val 1558"/>
            </a:avLst>
          </a:prstGeom>
          <a:solidFill>
            <a:srgbClr val="F4F1EC"/>
          </a:solidFill>
          <a:ln w="19050">
            <a:solidFill>
              <a:srgbClr val="E4DCD1"/>
            </a:solidFill>
            <a:prstDash val="dash"/>
          </a:ln>
        </p:spPr>
      </p:sp>
      <p:sp>
        <p:nvSpPr>
          <p:cNvPr id="6" name="Text 4"/>
          <p:cNvSpPr txBox="1"/>
          <p:nvPr/>
        </p:nvSpPr>
        <p:spPr>
          <a:xfrm>
            <a:off x="548640" y="3566160"/>
            <a:ext cx="3520440" cy="548640"/>
          </a:xfrm>
          <a:prstGeom prst="rect">
            <a:avLst/>
          </a:prstGeom>
          <a:noFill/>
          <a:ln/>
        </p:spPr>
        <p:txBody>
          <a:bodyPr wrap="square" lIns="0" tIns="0" rIns="0" bIns="0" rtlCol="0" anchor="ctr"/>
          <a:lstStyle/>
          <a:p>
            <a:pPr algn="ctr" indent="0" marL="0">
              <a:buNone/>
            </a:pPr>
            <a:r>
              <a:rPr lang="en-US" sz="2600" dirty="0">
                <a:solidFill>
                  <a:srgbClr val="6B5745"/>
                </a:solidFill>
              </a:rPr>
              <a:t>🖼</a:t>
            </a:r>
            <a:endParaRPr lang="en-US" sz="2600" dirty="0"/>
          </a:p>
        </p:txBody>
      </p:sp>
      <p:sp>
        <p:nvSpPr>
          <p:cNvPr id="7" name="Text 5"/>
          <p:cNvSpPr txBox="1"/>
          <p:nvPr/>
        </p:nvSpPr>
        <p:spPr>
          <a:xfrm>
            <a:off x="822960" y="4114800"/>
            <a:ext cx="2971800" cy="548640"/>
          </a:xfrm>
          <a:prstGeom prst="rect">
            <a:avLst/>
          </a:prstGeom>
          <a:noFill/>
          <a:ln/>
        </p:spPr>
        <p:txBody>
          <a:bodyPr wrap="square" lIns="0" tIns="0" rIns="0" bIns="0" rtlCol="0" anchor="t"/>
          <a:lstStyle/>
          <a:p>
            <a:pPr algn="ctr" indent="0" marL="0">
              <a:lnSpc>
                <a:spcPct val="115000"/>
              </a:lnSpc>
              <a:buNone/>
            </a:pPr>
            <a:r>
              <a:rPr lang="en-US" sz="1100" i="1" dirty="0">
                <a:solidFill>
                  <a:srgbClr val="6B5745"/>
                </a:solidFill>
                <a:latin typeface="Calibri" pitchFamily="34" charset="0"/>
                <a:ea typeface="Calibri" pitchFamily="34" charset="-122"/>
                <a:cs typeface="Calibri" pitchFamily="34" charset="-120"/>
              </a:rPr>
              <a:t>[ image placeholder — pest infestation at Tatay's farm ]</a:t>
            </a:r>
            <a:endParaRPr lang="en-US" sz="1100" dirty="0"/>
          </a:p>
        </p:txBody>
      </p:sp>
      <p:sp>
        <p:nvSpPr>
          <p:cNvPr id="8" name="Shape 6"/>
          <p:cNvSpPr/>
          <p:nvPr/>
        </p:nvSpPr>
        <p:spPr>
          <a:xfrm>
            <a:off x="4343400" y="2286000"/>
            <a:ext cx="3520440" cy="3566160"/>
          </a:xfrm>
          <a:prstGeom prst="roundRect">
            <a:avLst>
              <a:gd name="adj" fmla="val 1558"/>
            </a:avLst>
          </a:prstGeom>
          <a:solidFill>
            <a:srgbClr val="F4F1EC"/>
          </a:solidFill>
          <a:ln w="19050">
            <a:solidFill>
              <a:srgbClr val="E4DCD1"/>
            </a:solidFill>
            <a:prstDash val="dash"/>
          </a:ln>
        </p:spPr>
      </p:sp>
      <p:sp>
        <p:nvSpPr>
          <p:cNvPr id="9" name="Text 7"/>
          <p:cNvSpPr txBox="1"/>
          <p:nvPr/>
        </p:nvSpPr>
        <p:spPr>
          <a:xfrm>
            <a:off x="4343400" y="3566160"/>
            <a:ext cx="3520440" cy="548640"/>
          </a:xfrm>
          <a:prstGeom prst="rect">
            <a:avLst/>
          </a:prstGeom>
          <a:noFill/>
          <a:ln/>
        </p:spPr>
        <p:txBody>
          <a:bodyPr wrap="square" lIns="0" tIns="0" rIns="0" bIns="0" rtlCol="0" anchor="ctr"/>
          <a:lstStyle/>
          <a:p>
            <a:pPr algn="ctr" indent="0" marL="0">
              <a:buNone/>
            </a:pPr>
            <a:r>
              <a:rPr lang="en-US" sz="2600" dirty="0">
                <a:solidFill>
                  <a:srgbClr val="6B5745"/>
                </a:solidFill>
              </a:rPr>
              <a:t>🖼</a:t>
            </a:r>
            <a:endParaRPr lang="en-US" sz="2600" dirty="0"/>
          </a:p>
        </p:txBody>
      </p:sp>
      <p:sp>
        <p:nvSpPr>
          <p:cNvPr id="10" name="Text 8"/>
          <p:cNvSpPr txBox="1"/>
          <p:nvPr/>
        </p:nvSpPr>
        <p:spPr>
          <a:xfrm>
            <a:off x="4617720" y="4114800"/>
            <a:ext cx="2971800" cy="548640"/>
          </a:xfrm>
          <a:prstGeom prst="rect">
            <a:avLst/>
          </a:prstGeom>
          <a:noFill/>
          <a:ln/>
        </p:spPr>
        <p:txBody>
          <a:bodyPr wrap="square" lIns="0" tIns="0" rIns="0" bIns="0" rtlCol="0" anchor="t"/>
          <a:lstStyle/>
          <a:p>
            <a:pPr algn="ctr" indent="0" marL="0">
              <a:lnSpc>
                <a:spcPct val="115000"/>
              </a:lnSpc>
              <a:buNone/>
            </a:pPr>
            <a:r>
              <a:rPr lang="en-US" sz="1100" i="1" dirty="0">
                <a:solidFill>
                  <a:srgbClr val="6B5745"/>
                </a:solidFill>
                <a:latin typeface="Calibri" pitchFamily="34" charset="0"/>
                <a:ea typeface="Calibri" pitchFamily="34" charset="-122"/>
                <a:cs typeface="Calibri" pitchFamily="34" charset="-120"/>
              </a:rPr>
              <a:t>[ image placeholder — dry, dying leaves ]</a:t>
            </a:r>
            <a:endParaRPr lang="en-US" sz="1100" dirty="0"/>
          </a:p>
        </p:txBody>
      </p:sp>
      <p:sp>
        <p:nvSpPr>
          <p:cNvPr id="11" name="Shape 9"/>
          <p:cNvSpPr/>
          <p:nvPr/>
        </p:nvSpPr>
        <p:spPr>
          <a:xfrm>
            <a:off x="8138160" y="2286000"/>
            <a:ext cx="3520440" cy="3566160"/>
          </a:xfrm>
          <a:prstGeom prst="roundRect">
            <a:avLst>
              <a:gd name="adj" fmla="val 1558"/>
            </a:avLst>
          </a:prstGeom>
          <a:solidFill>
            <a:srgbClr val="F4F1EC"/>
          </a:solidFill>
          <a:ln w="19050">
            <a:solidFill>
              <a:srgbClr val="E4DCD1"/>
            </a:solidFill>
            <a:prstDash val="dash"/>
          </a:ln>
        </p:spPr>
      </p:sp>
      <p:sp>
        <p:nvSpPr>
          <p:cNvPr id="12" name="Text 10"/>
          <p:cNvSpPr txBox="1"/>
          <p:nvPr/>
        </p:nvSpPr>
        <p:spPr>
          <a:xfrm>
            <a:off x="8138160" y="3566160"/>
            <a:ext cx="3520440" cy="548640"/>
          </a:xfrm>
          <a:prstGeom prst="rect">
            <a:avLst/>
          </a:prstGeom>
          <a:noFill/>
          <a:ln/>
        </p:spPr>
        <p:txBody>
          <a:bodyPr wrap="square" lIns="0" tIns="0" rIns="0" bIns="0" rtlCol="0" anchor="ctr"/>
          <a:lstStyle/>
          <a:p>
            <a:pPr algn="ctr" indent="0" marL="0">
              <a:buNone/>
            </a:pPr>
            <a:r>
              <a:rPr lang="en-US" sz="2600" dirty="0">
                <a:solidFill>
                  <a:srgbClr val="6B5745"/>
                </a:solidFill>
              </a:rPr>
              <a:t>🖼</a:t>
            </a:r>
            <a:endParaRPr lang="en-US" sz="2600" dirty="0"/>
          </a:p>
        </p:txBody>
      </p:sp>
      <p:sp>
        <p:nvSpPr>
          <p:cNvPr id="13" name="Text 11"/>
          <p:cNvSpPr txBox="1"/>
          <p:nvPr/>
        </p:nvSpPr>
        <p:spPr>
          <a:xfrm>
            <a:off x="8412480" y="4114800"/>
            <a:ext cx="2971800" cy="548640"/>
          </a:xfrm>
          <a:prstGeom prst="rect">
            <a:avLst/>
          </a:prstGeom>
          <a:noFill/>
          <a:ln/>
        </p:spPr>
        <p:txBody>
          <a:bodyPr wrap="square" lIns="0" tIns="0" rIns="0" bIns="0" rtlCol="0" anchor="t"/>
          <a:lstStyle/>
          <a:p>
            <a:pPr algn="ctr" indent="0" marL="0">
              <a:lnSpc>
                <a:spcPct val="115000"/>
              </a:lnSpc>
              <a:buNone/>
            </a:pPr>
            <a:r>
              <a:rPr lang="en-US" sz="1100" i="1" dirty="0">
                <a:solidFill>
                  <a:srgbClr val="6B5745"/>
                </a:solidFill>
                <a:latin typeface="Calibri" pitchFamily="34" charset="0"/>
                <a:ea typeface="Calibri" pitchFamily="34" charset="-122"/>
                <a:cs typeface="Calibri" pitchFamily="34" charset="-120"/>
              </a:rPr>
              <a:t>[ image placeholder — diseased cacao pod ]</a:t>
            </a:r>
            <a:endParaRPr lang="en-US" sz="1100" dirty="0"/>
          </a:p>
        </p:txBody>
      </p:sp>
      <p:sp>
        <p:nvSpPr>
          <p:cNvPr id="14" name="Text 12"/>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100" i="1" dirty="0">
                <a:solidFill>
                  <a:srgbClr val="6B5745"/>
                </a:solidFill>
                <a:latin typeface="Calibri" pitchFamily="34" charset="0"/>
                <a:ea typeface="Calibri" pitchFamily="34" charset="-122"/>
                <a:cs typeface="Calibri" pitchFamily="34" charset="-120"/>
              </a:rPr>
              <a:t>Disease agent named: Phytophthora (likely P. palmivora, the classic cacao black pod disease); also birds and a viral disease affecting pod production.</a:t>
            </a:r>
            <a:endParaRPr lang="en-US" sz="1100" dirty="0"/>
          </a:p>
        </p:txBody>
      </p:sp>
      <p:sp>
        <p:nvSpPr>
          <p:cNvPr id="15" name="Text 13"/>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41209"/>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D9A441"/>
                </a:solidFill>
                <a:latin typeface="Calibri" pitchFamily="34" charset="0"/>
                <a:ea typeface="Calibri" pitchFamily="34" charset="-122"/>
                <a:cs typeface="Calibri" pitchFamily="34" charset="-120"/>
              </a:rPr>
              <a:t>OUR SPECIAL SUGGESTION</a:t>
            </a:r>
            <a:endParaRPr lang="en-US" sz="1100" dirty="0"/>
          </a:p>
        </p:txBody>
      </p:sp>
      <p:sp>
        <p:nvSpPr>
          <p:cNvPr id="3" name="Text 1"/>
          <p:cNvSpPr txBox="1"/>
          <p:nvPr/>
        </p:nvSpPr>
        <p:spPr>
          <a:xfrm>
            <a:off x="548640" y="777240"/>
            <a:ext cx="11064240" cy="685800"/>
          </a:xfrm>
          <a:prstGeom prst="rect">
            <a:avLst/>
          </a:prstGeom>
          <a:noFill/>
          <a:ln/>
        </p:spPr>
        <p:txBody>
          <a:bodyPr wrap="square" lIns="0" tIns="0" rIns="0" bIns="0" rtlCol="0" anchor="ctr"/>
          <a:lstStyle/>
          <a:p>
            <a:pPr indent="0" marL="0">
              <a:buNone/>
            </a:pPr>
            <a:r>
              <a:rPr lang="en-US" sz="2700" b="1" dirty="0">
                <a:solidFill>
                  <a:srgbClr val="F7F2EA"/>
                </a:solidFill>
                <a:latin typeface="Cambria" pitchFamily="34" charset="0"/>
                <a:ea typeface="Cambria" pitchFamily="34" charset="-122"/>
                <a:cs typeface="Cambria" pitchFamily="34" charset="-120"/>
              </a:rPr>
              <a:t>Run the pilot through a live, calculated tool</a:t>
            </a:r>
            <a:endParaRPr lang="en-US" sz="2700" dirty="0"/>
          </a:p>
        </p:txBody>
      </p:sp>
      <p:sp>
        <p:nvSpPr>
          <p:cNvPr id="4" name="Text 2"/>
          <p:cNvSpPr txBox="1"/>
          <p:nvPr/>
        </p:nvSpPr>
        <p:spPr>
          <a:xfrm>
            <a:off x="548640" y="1554480"/>
            <a:ext cx="7315200" cy="1737360"/>
          </a:xfrm>
          <a:prstGeom prst="rect">
            <a:avLst/>
          </a:prstGeom>
          <a:noFill/>
          <a:ln/>
        </p:spPr>
        <p:txBody>
          <a:bodyPr wrap="square" lIns="0" tIns="0" rIns="0" bIns="0" rtlCol="0" anchor="ctr"/>
          <a:lstStyle/>
          <a:p>
            <a:pPr indent="0" marL="0">
              <a:lnSpc>
                <a:spcPct val="130000"/>
              </a:lnSpc>
              <a:buNone/>
            </a:pPr>
            <a:r>
              <a:rPr lang="en-US" sz="1400" dirty="0">
                <a:solidFill>
                  <a:srgbClr val="C9BEB0"/>
                </a:solidFill>
                <a:latin typeface="Calibri" pitchFamily="34" charset="0"/>
                <a:ea typeface="Calibri" pitchFamily="34" charset="-122"/>
                <a:cs typeface="Calibri" pitchFamily="34" charset="-120"/>
              </a:rPr>
              <a:t>Rather than eyeball a drip-irrigation pilot for Tatay's farm, we built a working set of field tools: a drip-pressure planner sized to his real 2.5 ha / 120 m layout, a water-system schematic, and an interactive editor — so any water-resilience pilot is calculated, not guessed.</a:t>
            </a:r>
            <a:endParaRPr lang="en-US" sz="1400" dirty="0"/>
          </a:p>
        </p:txBody>
      </p:sp>
      <p:sp>
        <p:nvSpPr>
          <p:cNvPr id="5" name="Shape 3"/>
          <p:cNvSpPr/>
          <p:nvPr/>
        </p:nvSpPr>
        <p:spPr>
          <a:xfrm>
            <a:off x="548640" y="3429000"/>
            <a:ext cx="7315200" cy="1005840"/>
          </a:xfrm>
          <a:prstGeom prst="roundRect">
            <a:avLst>
              <a:gd name="adj" fmla="val 7273"/>
            </a:avLst>
          </a:prstGeom>
          <a:solidFill>
            <a:srgbClr val="3D2B1F">
              <a:alpha val="85000"/>
            </a:srgbClr>
          </a:solidFill>
          <a:ln w="12700">
            <a:solidFill>
              <a:srgbClr val="D9A441"/>
            </a:solidFill>
            <a:prstDash val="solid"/>
          </a:ln>
        </p:spPr>
      </p:sp>
      <p:sp>
        <p:nvSpPr>
          <p:cNvPr id="6" name="Text 4"/>
          <p:cNvSpPr txBox="1"/>
          <p:nvPr/>
        </p:nvSpPr>
        <p:spPr>
          <a:xfrm>
            <a:off x="822960" y="3566160"/>
            <a:ext cx="6766560" cy="365760"/>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cacao-bicol-field-tools</a:t>
            </a:r>
            <a:endParaRPr lang="en-US" sz="1500" dirty="0"/>
          </a:p>
        </p:txBody>
      </p:sp>
      <p:sp>
        <p:nvSpPr>
          <p:cNvPr id="7" name="Text 5"/>
          <p:cNvSpPr txBox="1"/>
          <p:nvPr/>
        </p:nvSpPr>
        <p:spPr>
          <a:xfrm>
            <a:off x="822960" y="3931920"/>
            <a:ext cx="6766560" cy="365760"/>
          </a:xfrm>
          <a:prstGeom prst="rect">
            <a:avLst/>
          </a:prstGeom>
          <a:noFill/>
          <a:ln/>
        </p:spPr>
        <p:txBody>
          <a:bodyPr wrap="square" lIns="0" tIns="0" rIns="0" bIns="0" rtlCol="0" anchor="ctr"/>
          <a:lstStyle/>
          <a:p>
            <a:pPr indent="0" marL="0">
              <a:buNone/>
            </a:pPr>
            <a:r>
              <a:rPr lang="en-US" sz="1250" dirty="0">
                <a:solidFill>
                  <a:srgbClr val="F7F2EA"/>
                </a:solidFill>
                <a:latin typeface="Calibri" pitchFamily="34" charset="0"/>
                <a:ea typeface="Calibri" pitchFamily="34" charset="-122"/>
                <a:cs typeface="Calibri" pitchFamily="34" charset="-120"/>
              </a:rPr>
              <a:t>github.com/Abdullah-Nasir-Chowdhury/cacao-bicol-field-tools</a:t>
            </a:r>
            <a:endParaRPr lang="en-US" sz="1250" dirty="0"/>
          </a:p>
        </p:txBody>
      </p:sp>
      <p:sp>
        <p:nvSpPr>
          <p:cNvPr id="8" name="Text 6"/>
          <p:cNvSpPr txBox="1"/>
          <p:nvPr/>
        </p:nvSpPr>
        <p:spPr>
          <a:xfrm>
            <a:off x="548640" y="4663440"/>
            <a:ext cx="7315200" cy="640080"/>
          </a:xfrm>
          <a:prstGeom prst="rect">
            <a:avLst/>
          </a:prstGeom>
          <a:noFill/>
          <a:ln/>
        </p:spPr>
        <p:txBody>
          <a:bodyPr wrap="square" lIns="0" tIns="0" rIns="0" bIns="0" rtlCol="0" anchor="ctr"/>
          <a:lstStyle/>
          <a:p>
            <a:pPr indent="0" marL="0">
              <a:lnSpc>
                <a:spcPct val="125000"/>
              </a:lnSpc>
              <a:buNone/>
            </a:pPr>
            <a:r>
              <a:rPr lang="en-US" sz="1200" i="1" dirty="0">
                <a:solidFill>
                  <a:srgbClr val="C9BEB0"/>
                </a:solidFill>
                <a:latin typeface="Calibri" pitchFamily="34" charset="0"/>
                <a:ea typeface="Calibri" pitchFamily="34" charset="-122"/>
                <a:cs typeface="Calibri" pitchFamily="34" charset="-120"/>
              </a:rPr>
              <a:t>Same repo also holds our full field-notes reference and the interactive chart dashboard this deck draws from.</a:t>
            </a:r>
            <a:endParaRPr lang="en-US" sz="1200" dirty="0"/>
          </a:p>
        </p:txBody>
      </p:sp>
      <p:sp>
        <p:nvSpPr>
          <p:cNvPr id="9" name="Shape 7"/>
          <p:cNvSpPr/>
          <p:nvPr/>
        </p:nvSpPr>
        <p:spPr>
          <a:xfrm>
            <a:off x="8229600" y="1554480"/>
            <a:ext cx="3383280" cy="4206240"/>
          </a:xfrm>
          <a:prstGeom prst="roundRect">
            <a:avLst>
              <a:gd name="adj" fmla="val 1622"/>
            </a:avLst>
          </a:prstGeom>
          <a:solidFill>
            <a:srgbClr val="F4F1EC"/>
          </a:solidFill>
          <a:ln w="19050">
            <a:solidFill>
              <a:srgbClr val="E4DCD1"/>
            </a:solidFill>
            <a:prstDash val="dash"/>
          </a:ln>
        </p:spPr>
      </p:sp>
      <p:sp>
        <p:nvSpPr>
          <p:cNvPr id="10" name="Text 8"/>
          <p:cNvSpPr txBox="1"/>
          <p:nvPr/>
        </p:nvSpPr>
        <p:spPr>
          <a:xfrm>
            <a:off x="8229600" y="3154680"/>
            <a:ext cx="3383280" cy="548640"/>
          </a:xfrm>
          <a:prstGeom prst="rect">
            <a:avLst/>
          </a:prstGeom>
          <a:noFill/>
          <a:ln/>
        </p:spPr>
        <p:txBody>
          <a:bodyPr wrap="square" lIns="0" tIns="0" rIns="0" bIns="0" rtlCol="0" anchor="ctr"/>
          <a:lstStyle/>
          <a:p>
            <a:pPr algn="ctr" indent="0" marL="0">
              <a:buNone/>
            </a:pPr>
            <a:r>
              <a:rPr lang="en-US" sz="2600" dirty="0">
                <a:solidFill>
                  <a:srgbClr val="6B5745"/>
                </a:solidFill>
              </a:rPr>
              <a:t>🖼</a:t>
            </a:r>
            <a:endParaRPr lang="en-US" sz="2600" dirty="0"/>
          </a:p>
        </p:txBody>
      </p:sp>
      <p:sp>
        <p:nvSpPr>
          <p:cNvPr id="11" name="Text 9"/>
          <p:cNvSpPr txBox="1"/>
          <p:nvPr/>
        </p:nvSpPr>
        <p:spPr>
          <a:xfrm>
            <a:off x="8503920" y="3703320"/>
            <a:ext cx="2834640" cy="548640"/>
          </a:xfrm>
          <a:prstGeom prst="rect">
            <a:avLst/>
          </a:prstGeom>
          <a:noFill/>
          <a:ln/>
        </p:spPr>
        <p:txBody>
          <a:bodyPr wrap="square" lIns="0" tIns="0" rIns="0" bIns="0" rtlCol="0" anchor="t"/>
          <a:lstStyle/>
          <a:p>
            <a:pPr algn="ctr" indent="0" marL="0">
              <a:lnSpc>
                <a:spcPct val="115000"/>
              </a:lnSpc>
              <a:buNone/>
            </a:pPr>
            <a:r>
              <a:rPr lang="en-US" sz="1100" i="1" dirty="0">
                <a:solidFill>
                  <a:srgbClr val="6B5745"/>
                </a:solidFill>
                <a:latin typeface="Calibri" pitchFamily="34" charset="0"/>
                <a:ea typeface="Calibri" pitchFamily="34" charset="-122"/>
                <a:cs typeface="Calibri" pitchFamily="34" charset="-120"/>
              </a:rPr>
              <a:t>[ image / QR code placeholder — link to the deployed tools site ]</a:t>
            </a:r>
            <a:endParaRPr lang="en-US" sz="1100" dirty="0"/>
          </a:p>
        </p:txBody>
      </p:sp>
      <p:sp>
        <p:nvSpPr>
          <p:cNvPr id="12" name="Text 10"/>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WORKING SOLUTIONS</a:t>
            </a:r>
            <a:endParaRPr lang="en-US" sz="1100" dirty="0"/>
          </a:p>
        </p:txBody>
      </p:sp>
      <p:sp>
        <p:nvSpPr>
          <p:cNvPr id="3" name="Text 1"/>
          <p:cNvSpPr txBox="1"/>
          <p:nvPr/>
        </p:nvSpPr>
        <p:spPr>
          <a:xfrm>
            <a:off x="548640" y="777240"/>
            <a:ext cx="11064240" cy="594360"/>
          </a:xfrm>
          <a:prstGeom prst="rect">
            <a:avLst/>
          </a:prstGeom>
          <a:noFill/>
          <a:ln/>
        </p:spPr>
        <p:txBody>
          <a:bodyPr wrap="square" lIns="0" tIns="0" rIns="0" bIns="0" rtlCol="0" anchor="ctr"/>
          <a:lstStyle/>
          <a:p>
            <a:pPr indent="0" marL="0">
              <a:buNone/>
            </a:pPr>
            <a:r>
              <a:rPr lang="en-US" sz="2500" b="1" dirty="0">
                <a:solidFill>
                  <a:srgbClr val="3D2B1F"/>
                </a:solidFill>
                <a:latin typeface="Cambria" pitchFamily="34" charset="0"/>
                <a:ea typeface="Cambria" pitchFamily="34" charset="-122"/>
                <a:cs typeface="Cambria" pitchFamily="34" charset="-120"/>
              </a:rPr>
              <a:t>Solutions we probed and gathered from other farms</a:t>
            </a:r>
            <a:endParaRPr lang="en-US" sz="25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buNone/>
            </a:pPr>
            <a:r>
              <a:rPr lang="en-US" sz="1250" i="1" dirty="0">
                <a:solidFill>
                  <a:srgbClr val="6B5745"/>
                </a:solidFill>
                <a:latin typeface="Calibri" pitchFamily="34" charset="0"/>
                <a:ea typeface="Calibri" pitchFamily="34" charset="-122"/>
                <a:cs typeface="Calibri" pitchFamily="34" charset="-120"/>
              </a:rPr>
              <a:t>6 of 12 candidate solutions survived independent fact-checking against the interview data. Grouped by approach, adapted from proven Bicol practices:</a:t>
            </a:r>
            <a:endParaRPr lang="en-US" sz="1250" dirty="0"/>
          </a:p>
        </p:txBody>
      </p:sp>
      <p:sp>
        <p:nvSpPr>
          <p:cNvPr id="5" name="Shape 3"/>
          <p:cNvSpPr/>
          <p:nvPr/>
        </p:nvSpPr>
        <p:spPr>
          <a:xfrm>
            <a:off x="548640" y="1874520"/>
            <a:ext cx="3520440" cy="3383280"/>
          </a:xfrm>
          <a:prstGeom prst="roundRect">
            <a:avLst>
              <a:gd name="adj" fmla="val 1892"/>
            </a:avLst>
          </a:prstGeom>
          <a:solidFill>
            <a:srgbClr val="FFFFFF"/>
          </a:solidFill>
          <a:ln w="15875">
            <a:solidFill>
              <a:srgbClr val="6B7A3D"/>
            </a:solidFill>
            <a:prstDash val="solid"/>
          </a:ln>
        </p:spPr>
      </p:sp>
      <p:sp>
        <p:nvSpPr>
          <p:cNvPr id="6" name="Text 4"/>
          <p:cNvSpPr txBox="1"/>
          <p:nvPr/>
        </p:nvSpPr>
        <p:spPr>
          <a:xfrm>
            <a:off x="777240" y="2057400"/>
            <a:ext cx="3063240" cy="502920"/>
          </a:xfrm>
          <a:prstGeom prst="rect">
            <a:avLst/>
          </a:prstGeom>
          <a:noFill/>
          <a:ln/>
        </p:spPr>
        <p:txBody>
          <a:bodyPr wrap="square" lIns="0" tIns="0" rIns="0" bIns="0" rtlCol="0" anchor="ctr"/>
          <a:lstStyle/>
          <a:p>
            <a:pPr indent="0" marL="0">
              <a:lnSpc>
                <a:spcPct val="110000"/>
              </a:lnSpc>
              <a:buNone/>
            </a:pPr>
            <a:r>
              <a:rPr lang="en-US" sz="1350" b="1" dirty="0">
                <a:solidFill>
                  <a:srgbClr val="6B7A3D"/>
                </a:solidFill>
                <a:latin typeface="Cambria" pitchFamily="34" charset="0"/>
                <a:ea typeface="Cambria" pitchFamily="34" charset="-122"/>
                <a:cs typeface="Cambria" pitchFamily="34" charset="-120"/>
              </a:rPr>
              <a:t>Monitoring &amp; routine discipline (3)</a:t>
            </a:r>
            <a:endParaRPr lang="en-US" sz="1350" dirty="0"/>
          </a:p>
        </p:txBody>
      </p:sp>
      <p:sp>
        <p:nvSpPr>
          <p:cNvPr id="7" name="Shape 5"/>
          <p:cNvSpPr/>
          <p:nvPr/>
        </p:nvSpPr>
        <p:spPr>
          <a:xfrm>
            <a:off x="795528" y="2770632"/>
            <a:ext cx="82296" cy="82296"/>
          </a:xfrm>
          <a:prstGeom prst="ellipse">
            <a:avLst/>
          </a:prstGeom>
          <a:solidFill>
            <a:srgbClr val="6B7A3D"/>
          </a:solidFill>
          <a:ln/>
        </p:spPr>
      </p:sp>
      <p:sp>
        <p:nvSpPr>
          <p:cNvPr id="8" name="Text 6"/>
          <p:cNvSpPr txBox="1"/>
          <p:nvPr/>
        </p:nvSpPr>
        <p:spPr>
          <a:xfrm>
            <a:off x="1069848" y="2642616"/>
            <a:ext cx="2770632" cy="685800"/>
          </a:xfrm>
          <a:prstGeom prst="rect">
            <a:avLst/>
          </a:prstGeom>
          <a:noFill/>
          <a:ln/>
        </p:spPr>
        <p:txBody>
          <a:bodyPr wrap="square" lIns="0" tIns="0" rIns="0" bIns="0" rtlCol="0" anchor="ctr"/>
          <a:lstStyle/>
          <a:p>
            <a:pPr indent="0" marL="0">
              <a:lnSpc>
                <a:spcPct val="118000"/>
              </a:lnSpc>
              <a:buNone/>
            </a:pPr>
            <a:r>
              <a:rPr lang="en-US" sz="1000" dirty="0">
                <a:solidFill>
                  <a:srgbClr val="3D2B1F"/>
                </a:solidFill>
                <a:latin typeface="Calibri" pitchFamily="34" charset="0"/>
                <a:ea typeface="Calibri" pitchFamily="34" charset="-122"/>
                <a:cs typeface="Calibri" pitchFamily="34" charset="-120"/>
              </a:rPr>
              <a:t>Cacao-adapted 15-day treatment calendar — from the taro project's proven schedule discipline.</a:t>
            </a:r>
            <a:endParaRPr lang="en-US" sz="1000" dirty="0"/>
          </a:p>
        </p:txBody>
      </p:sp>
      <p:sp>
        <p:nvSpPr>
          <p:cNvPr id="9" name="Shape 7"/>
          <p:cNvSpPr/>
          <p:nvPr/>
        </p:nvSpPr>
        <p:spPr>
          <a:xfrm>
            <a:off x="795528" y="3566160"/>
            <a:ext cx="82296" cy="82296"/>
          </a:xfrm>
          <a:prstGeom prst="ellipse">
            <a:avLst/>
          </a:prstGeom>
          <a:solidFill>
            <a:srgbClr val="6B7A3D"/>
          </a:solidFill>
          <a:ln/>
        </p:spPr>
      </p:sp>
      <p:sp>
        <p:nvSpPr>
          <p:cNvPr id="10" name="Text 8"/>
          <p:cNvSpPr txBox="1"/>
          <p:nvPr/>
        </p:nvSpPr>
        <p:spPr>
          <a:xfrm>
            <a:off x="1069848" y="3438144"/>
            <a:ext cx="2770632" cy="685800"/>
          </a:xfrm>
          <a:prstGeom prst="rect">
            <a:avLst/>
          </a:prstGeom>
          <a:noFill/>
          <a:ln/>
        </p:spPr>
        <p:txBody>
          <a:bodyPr wrap="square" lIns="0" tIns="0" rIns="0" bIns="0" rtlCol="0" anchor="ctr"/>
          <a:lstStyle/>
          <a:p>
            <a:pPr indent="0" marL="0">
              <a:lnSpc>
                <a:spcPct val="118000"/>
              </a:lnSpc>
              <a:buNone/>
            </a:pPr>
            <a:r>
              <a:rPr lang="en-US" sz="1000" dirty="0">
                <a:solidFill>
                  <a:srgbClr val="3D2B1F"/>
                </a:solidFill>
                <a:latin typeface="Calibri" pitchFamily="34" charset="0"/>
                <a:ea typeface="Calibri" pitchFamily="34" charset="-122"/>
                <a:cs typeface="Calibri" pitchFamily="34" charset="-120"/>
              </a:rPr>
              <a:t>Field-officer symptom-logging checklist — feeds Muravah's 500–1,000-farmer data study.</a:t>
            </a:r>
            <a:endParaRPr lang="en-US" sz="1000" dirty="0"/>
          </a:p>
        </p:txBody>
      </p:sp>
      <p:sp>
        <p:nvSpPr>
          <p:cNvPr id="11" name="Shape 9"/>
          <p:cNvSpPr/>
          <p:nvPr/>
        </p:nvSpPr>
        <p:spPr>
          <a:xfrm>
            <a:off x="795528" y="4361688"/>
            <a:ext cx="82296" cy="82296"/>
          </a:xfrm>
          <a:prstGeom prst="ellipse">
            <a:avLst/>
          </a:prstGeom>
          <a:solidFill>
            <a:srgbClr val="6B7A3D"/>
          </a:solidFill>
          <a:ln/>
        </p:spPr>
      </p:sp>
      <p:sp>
        <p:nvSpPr>
          <p:cNvPr id="12" name="Text 10"/>
          <p:cNvSpPr txBox="1"/>
          <p:nvPr/>
        </p:nvSpPr>
        <p:spPr>
          <a:xfrm>
            <a:off x="1069848" y="4233672"/>
            <a:ext cx="2770632" cy="685800"/>
          </a:xfrm>
          <a:prstGeom prst="rect">
            <a:avLst/>
          </a:prstGeom>
          <a:noFill/>
          <a:ln/>
        </p:spPr>
        <p:txBody>
          <a:bodyPr wrap="square" lIns="0" tIns="0" rIns="0" bIns="0" rtlCol="0" anchor="ctr"/>
          <a:lstStyle/>
          <a:p>
            <a:pPr indent="0" marL="0">
              <a:lnSpc>
                <a:spcPct val="118000"/>
              </a:lnSpc>
              <a:buNone/>
            </a:pPr>
            <a:r>
              <a:rPr lang="en-US" sz="1000" dirty="0">
                <a:solidFill>
                  <a:srgbClr val="3D2B1F"/>
                </a:solidFill>
                <a:latin typeface="Calibri" pitchFamily="34" charset="0"/>
                <a:ea typeface="Calibri" pitchFamily="34" charset="-122"/>
                <a:cs typeface="Calibri" pitchFamily="34" charset="-120"/>
              </a:rPr>
              <a:t>Centralized calendar-compliance &amp; bio-input ledger — gives the facility supply visibility.</a:t>
            </a:r>
            <a:endParaRPr lang="en-US" sz="1000" dirty="0"/>
          </a:p>
        </p:txBody>
      </p:sp>
      <p:sp>
        <p:nvSpPr>
          <p:cNvPr id="13" name="Shape 11"/>
          <p:cNvSpPr/>
          <p:nvPr/>
        </p:nvSpPr>
        <p:spPr>
          <a:xfrm>
            <a:off x="4343400" y="1874520"/>
            <a:ext cx="3520440" cy="3383280"/>
          </a:xfrm>
          <a:prstGeom prst="roundRect">
            <a:avLst>
              <a:gd name="adj" fmla="val 1892"/>
            </a:avLst>
          </a:prstGeom>
          <a:solidFill>
            <a:srgbClr val="FFFFFF"/>
          </a:solidFill>
          <a:ln w="15875">
            <a:solidFill>
              <a:srgbClr val="B85C38"/>
            </a:solidFill>
            <a:prstDash val="solid"/>
          </a:ln>
        </p:spPr>
      </p:sp>
      <p:sp>
        <p:nvSpPr>
          <p:cNvPr id="14" name="Text 12"/>
          <p:cNvSpPr txBox="1"/>
          <p:nvPr/>
        </p:nvSpPr>
        <p:spPr>
          <a:xfrm>
            <a:off x="4572000" y="2057400"/>
            <a:ext cx="3063240" cy="502920"/>
          </a:xfrm>
          <a:prstGeom prst="rect">
            <a:avLst/>
          </a:prstGeom>
          <a:noFill/>
          <a:ln/>
        </p:spPr>
        <p:txBody>
          <a:bodyPr wrap="square" lIns="0" tIns="0" rIns="0" bIns="0" rtlCol="0" anchor="ctr"/>
          <a:lstStyle/>
          <a:p>
            <a:pPr indent="0" marL="0">
              <a:lnSpc>
                <a:spcPct val="110000"/>
              </a:lnSpc>
              <a:buNone/>
            </a:pPr>
            <a:r>
              <a:rPr lang="en-US" sz="1350" b="1" dirty="0">
                <a:solidFill>
                  <a:srgbClr val="B85C38"/>
                </a:solidFill>
                <a:latin typeface="Cambria" pitchFamily="34" charset="0"/>
                <a:ea typeface="Cambria" pitchFamily="34" charset="-122"/>
                <a:cs typeface="Cambria" pitchFamily="34" charset="-120"/>
              </a:rPr>
              <a:t>Biological &amp; cultural control (2)</a:t>
            </a:r>
            <a:endParaRPr lang="en-US" sz="1350" dirty="0"/>
          </a:p>
        </p:txBody>
      </p:sp>
      <p:sp>
        <p:nvSpPr>
          <p:cNvPr id="15" name="Shape 13"/>
          <p:cNvSpPr/>
          <p:nvPr/>
        </p:nvSpPr>
        <p:spPr>
          <a:xfrm>
            <a:off x="4590288" y="2770632"/>
            <a:ext cx="82296" cy="82296"/>
          </a:xfrm>
          <a:prstGeom prst="ellipse">
            <a:avLst/>
          </a:prstGeom>
          <a:solidFill>
            <a:srgbClr val="B85C38"/>
          </a:solidFill>
          <a:ln/>
        </p:spPr>
      </p:sp>
      <p:sp>
        <p:nvSpPr>
          <p:cNvPr id="16" name="Text 14"/>
          <p:cNvSpPr txBox="1"/>
          <p:nvPr/>
        </p:nvSpPr>
        <p:spPr>
          <a:xfrm>
            <a:off x="4864608" y="2642616"/>
            <a:ext cx="2770632" cy="685800"/>
          </a:xfrm>
          <a:prstGeom prst="rect">
            <a:avLst/>
          </a:prstGeom>
          <a:noFill/>
          <a:ln/>
        </p:spPr>
        <p:txBody>
          <a:bodyPr wrap="square" lIns="0" tIns="0" rIns="0" bIns="0" rtlCol="0" anchor="ctr"/>
          <a:lstStyle/>
          <a:p>
            <a:pPr indent="0" marL="0">
              <a:lnSpc>
                <a:spcPct val="118000"/>
              </a:lnSpc>
              <a:buNone/>
            </a:pPr>
            <a:r>
              <a:rPr lang="en-US" sz="1000" dirty="0">
                <a:solidFill>
                  <a:srgbClr val="3D2B1F"/>
                </a:solidFill>
                <a:latin typeface="Calibri" pitchFamily="34" charset="0"/>
                <a:ea typeface="Calibri" pitchFamily="34" charset="-122"/>
                <a:cs typeface="Calibri" pitchFamily="34" charset="-120"/>
              </a:rPr>
              <a:t>Herbal foliar &amp; pod spray for black pod rot — adapted from the rice/dairy farm's practice.</a:t>
            </a:r>
            <a:endParaRPr lang="en-US" sz="1000" dirty="0"/>
          </a:p>
        </p:txBody>
      </p:sp>
      <p:sp>
        <p:nvSpPr>
          <p:cNvPr id="17" name="Shape 15"/>
          <p:cNvSpPr/>
          <p:nvPr/>
        </p:nvSpPr>
        <p:spPr>
          <a:xfrm>
            <a:off x="4590288" y="3566160"/>
            <a:ext cx="82296" cy="82296"/>
          </a:xfrm>
          <a:prstGeom prst="ellipse">
            <a:avLst/>
          </a:prstGeom>
          <a:solidFill>
            <a:srgbClr val="B85C38"/>
          </a:solidFill>
          <a:ln/>
        </p:spPr>
      </p:sp>
      <p:sp>
        <p:nvSpPr>
          <p:cNvPr id="18" name="Text 16"/>
          <p:cNvSpPr txBox="1"/>
          <p:nvPr/>
        </p:nvSpPr>
        <p:spPr>
          <a:xfrm>
            <a:off x="4864608" y="3438144"/>
            <a:ext cx="2770632" cy="685800"/>
          </a:xfrm>
          <a:prstGeom prst="rect">
            <a:avLst/>
          </a:prstGeom>
          <a:noFill/>
          <a:ln/>
        </p:spPr>
        <p:txBody>
          <a:bodyPr wrap="square" lIns="0" tIns="0" rIns="0" bIns="0" rtlCol="0" anchor="ctr"/>
          <a:lstStyle/>
          <a:p>
            <a:pPr indent="0" marL="0">
              <a:lnSpc>
                <a:spcPct val="118000"/>
              </a:lnSpc>
              <a:buNone/>
            </a:pPr>
            <a:r>
              <a:rPr lang="en-US" sz="1000" dirty="0">
                <a:solidFill>
                  <a:srgbClr val="3D2B1F"/>
                </a:solidFill>
                <a:latin typeface="Calibri" pitchFamily="34" charset="0"/>
                <a:ea typeface="Calibri" pitchFamily="34" charset="-122"/>
                <a:cs typeface="Calibri" pitchFamily="34" charset="-120"/>
              </a:rPr>
              <a:t>Amino-acid/molasses bio-concoction on a 15-day cycle — from the taro project's recipe.</a:t>
            </a:r>
            <a:endParaRPr lang="en-US" sz="1000" dirty="0"/>
          </a:p>
        </p:txBody>
      </p:sp>
      <p:sp>
        <p:nvSpPr>
          <p:cNvPr id="19" name="Shape 17"/>
          <p:cNvSpPr/>
          <p:nvPr/>
        </p:nvSpPr>
        <p:spPr>
          <a:xfrm>
            <a:off x="8138160" y="1874520"/>
            <a:ext cx="3520440" cy="3383280"/>
          </a:xfrm>
          <a:prstGeom prst="roundRect">
            <a:avLst>
              <a:gd name="adj" fmla="val 1892"/>
            </a:avLst>
          </a:prstGeom>
          <a:solidFill>
            <a:srgbClr val="FFFFFF"/>
          </a:solidFill>
          <a:ln w="15875">
            <a:solidFill>
              <a:srgbClr val="D9A441"/>
            </a:solidFill>
            <a:prstDash val="solid"/>
          </a:ln>
        </p:spPr>
      </p:sp>
      <p:sp>
        <p:nvSpPr>
          <p:cNvPr id="20" name="Text 18"/>
          <p:cNvSpPr txBox="1"/>
          <p:nvPr/>
        </p:nvSpPr>
        <p:spPr>
          <a:xfrm>
            <a:off x="8366760" y="2057400"/>
            <a:ext cx="3063240" cy="502920"/>
          </a:xfrm>
          <a:prstGeom prst="rect">
            <a:avLst/>
          </a:prstGeom>
          <a:noFill/>
          <a:ln/>
        </p:spPr>
        <p:txBody>
          <a:bodyPr wrap="square" lIns="0" tIns="0" rIns="0" bIns="0" rtlCol="0" anchor="ctr"/>
          <a:lstStyle/>
          <a:p>
            <a:pPr indent="0" marL="0">
              <a:lnSpc>
                <a:spcPct val="110000"/>
              </a:lnSpc>
              <a:buNone/>
            </a:pPr>
            <a:r>
              <a:rPr lang="en-US" sz="1350" b="1" dirty="0">
                <a:solidFill>
                  <a:srgbClr val="D9A441"/>
                </a:solidFill>
                <a:latin typeface="Cambria" pitchFamily="34" charset="0"/>
                <a:ea typeface="Cambria" pitchFamily="34" charset="-122"/>
                <a:cs typeface="Cambria" pitchFamily="34" charset="-120"/>
              </a:rPr>
              <a:t>Post-harvest handling (1)</a:t>
            </a:r>
            <a:endParaRPr lang="en-US" sz="1350" dirty="0"/>
          </a:p>
        </p:txBody>
      </p:sp>
      <p:sp>
        <p:nvSpPr>
          <p:cNvPr id="21" name="Shape 19"/>
          <p:cNvSpPr/>
          <p:nvPr/>
        </p:nvSpPr>
        <p:spPr>
          <a:xfrm>
            <a:off x="8385048" y="2770632"/>
            <a:ext cx="82296" cy="82296"/>
          </a:xfrm>
          <a:prstGeom prst="ellipse">
            <a:avLst/>
          </a:prstGeom>
          <a:solidFill>
            <a:srgbClr val="D9A441"/>
          </a:solidFill>
          <a:ln/>
        </p:spPr>
      </p:sp>
      <p:sp>
        <p:nvSpPr>
          <p:cNvPr id="22" name="Text 20"/>
          <p:cNvSpPr txBox="1"/>
          <p:nvPr/>
        </p:nvSpPr>
        <p:spPr>
          <a:xfrm>
            <a:off x="8659368" y="2642616"/>
            <a:ext cx="2770632" cy="685800"/>
          </a:xfrm>
          <a:prstGeom prst="rect">
            <a:avLst/>
          </a:prstGeom>
          <a:noFill/>
          <a:ln/>
        </p:spPr>
        <p:txBody>
          <a:bodyPr wrap="square" lIns="0" tIns="0" rIns="0" bIns="0" rtlCol="0" anchor="ctr"/>
          <a:lstStyle/>
          <a:p>
            <a:pPr indent="0" marL="0">
              <a:lnSpc>
                <a:spcPct val="118000"/>
              </a:lnSpc>
              <a:buNone/>
            </a:pPr>
            <a:r>
              <a:rPr lang="en-US" sz="1000" dirty="0">
                <a:solidFill>
                  <a:srgbClr val="3D2B1F"/>
                </a:solidFill>
                <a:latin typeface="Calibri" pitchFamily="34" charset="0"/>
                <a:ea typeface="Calibri" pitchFamily="34" charset="-122"/>
                <a:cs typeface="Calibri" pitchFamily="34" charset="-120"/>
              </a:rPr>
              <a:t>Rolling phytosanitation rounds every 7–14 days — harvest and strip/burn diseased pods in one pass.</a:t>
            </a:r>
            <a:endParaRPr lang="en-US" sz="1000" dirty="0"/>
          </a:p>
        </p:txBody>
      </p:sp>
      <p:sp>
        <p:nvSpPr>
          <p:cNvPr id="23" name="Shape 21"/>
          <p:cNvSpPr/>
          <p:nvPr/>
        </p:nvSpPr>
        <p:spPr>
          <a:xfrm>
            <a:off x="548640" y="5440680"/>
            <a:ext cx="11064240" cy="777240"/>
          </a:xfrm>
          <a:prstGeom prst="roundRect">
            <a:avLst>
              <a:gd name="adj" fmla="val 8235"/>
            </a:avLst>
          </a:prstGeom>
          <a:solidFill>
            <a:srgbClr val="E5E9D6"/>
          </a:solidFill>
          <a:ln/>
        </p:spPr>
      </p:sp>
      <p:sp>
        <p:nvSpPr>
          <p:cNvPr id="24" name="Text 22"/>
          <p:cNvSpPr txBox="1"/>
          <p:nvPr/>
        </p:nvSpPr>
        <p:spPr>
          <a:xfrm>
            <a:off x="822960" y="5440680"/>
            <a:ext cx="10515600" cy="777240"/>
          </a:xfrm>
          <a:prstGeom prst="rect">
            <a:avLst/>
          </a:prstGeom>
          <a:noFill/>
          <a:ln/>
        </p:spPr>
        <p:txBody>
          <a:bodyPr wrap="square" lIns="0" tIns="0" rIns="0" bIns="0" rtlCol="0" anchor="ctr"/>
          <a:lstStyle/>
          <a:p>
            <a:pPr indent="0" marL="0">
              <a:lnSpc>
                <a:spcPct val="115000"/>
              </a:lnSpc>
              <a:buNone/>
            </a:pPr>
            <a:r>
              <a:rPr lang="en-US" sz="1150" b="1" dirty="0">
                <a:solidFill>
                  <a:srgbClr val="6B7A3D"/>
                </a:solidFill>
                <a:latin typeface="Calibri" pitchFamily="34" charset="0"/>
                <a:ea typeface="Calibri" pitchFamily="34" charset="-122"/>
                <a:cs typeface="Calibri" pitchFamily="34" charset="-120"/>
              </a:rPr>
              <a:t>Recommended for Tatay first: </a:t>
            </a:r>
            <a:pPr indent="0" marL="0">
              <a:lnSpc>
                <a:spcPct val="115000"/>
              </a:lnSpc>
              <a:buNone/>
            </a:pPr>
            <a:r>
              <a:rPr lang="en-US" sz="1150" dirty="0">
                <a:solidFill>
                  <a:srgbClr val="3D2B1F"/>
                </a:solidFill>
                <a:latin typeface="Calibri" pitchFamily="34" charset="0"/>
                <a:ea typeface="Calibri" pitchFamily="34" charset="-122"/>
                <a:cs typeface="Calibri" pitchFamily="34" charset="-120"/>
              </a:rPr>
              <a:t>the 15-day calendar + herbal spray — cheapest to start, needs no new equipment, and fits his limited labor capacity given his health constraints. The compliance ledger and amino-acid spray follow once the calendar habit is established.</a:t>
            </a:r>
            <a:endParaRPr lang="en-US" sz="1150" dirty="0"/>
          </a:p>
        </p:txBody>
      </p:sp>
      <p:sp>
        <p:nvSpPr>
          <p:cNvPr id="25" name="Text 23"/>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FEASIBILITY</a:t>
            </a:r>
            <a:endParaRPr lang="en-US" sz="11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2800" b="1" dirty="0">
                <a:solidFill>
                  <a:srgbClr val="3D2B1F"/>
                </a:solidFill>
                <a:latin typeface="Cambria" pitchFamily="34" charset="0"/>
                <a:ea typeface="Cambria" pitchFamily="34" charset="-122"/>
                <a:cs typeface="Cambria" pitchFamily="34" charset="-120"/>
              </a:rPr>
              <a:t>Why this works inside real constraints</a:t>
            </a:r>
            <a:endParaRPr lang="en-US" sz="2800" dirty="0"/>
          </a:p>
        </p:txBody>
      </p:sp>
      <p:sp>
        <p:nvSpPr>
          <p:cNvPr id="4" name="Shape 2"/>
          <p:cNvSpPr/>
          <p:nvPr/>
        </p:nvSpPr>
        <p:spPr>
          <a:xfrm>
            <a:off x="548640" y="1691640"/>
            <a:ext cx="457200" cy="457200"/>
          </a:xfrm>
          <a:prstGeom prst="ellipse">
            <a:avLst/>
          </a:prstGeom>
          <a:solidFill>
            <a:srgbClr val="6B7A3D"/>
          </a:solidFill>
          <a:ln/>
        </p:spPr>
      </p:sp>
      <p:sp>
        <p:nvSpPr>
          <p:cNvPr id="5" name="Text 3"/>
          <p:cNvSpPr txBox="1"/>
          <p:nvPr/>
        </p:nvSpPr>
        <p:spPr>
          <a:xfrm>
            <a:off x="54864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34440" y="1636776"/>
            <a:ext cx="9966960" cy="365760"/>
          </a:xfrm>
          <a:prstGeom prst="rect">
            <a:avLst/>
          </a:prstGeom>
          <a:noFill/>
          <a:ln/>
        </p:spPr>
        <p:txBody>
          <a:bodyPr wrap="square" lIns="0" tIns="0" rIns="0" bIns="0" rtlCol="0" anchor="ctr"/>
          <a:lstStyle/>
          <a:p>
            <a:pPr indent="0" marL="0">
              <a:buNone/>
            </a:pPr>
            <a:r>
              <a:rPr lang="en-US" sz="1550" b="1" dirty="0">
                <a:solidFill>
                  <a:srgbClr val="3D2B1F"/>
                </a:solidFill>
                <a:latin typeface="Cambria" pitchFamily="34" charset="0"/>
                <a:ea typeface="Cambria" pitchFamily="34" charset="-122"/>
                <a:cs typeface="Cambria" pitchFamily="34" charset="-120"/>
              </a:rPr>
              <a:t>Matches what farmers actually said they need</a:t>
            </a:r>
            <a:endParaRPr lang="en-US" sz="1550" dirty="0"/>
          </a:p>
        </p:txBody>
      </p:sp>
      <p:sp>
        <p:nvSpPr>
          <p:cNvPr id="7" name="Text 5"/>
          <p:cNvSpPr txBox="1"/>
          <p:nvPr/>
        </p:nvSpPr>
        <p:spPr>
          <a:xfrm>
            <a:off x="1234440" y="2002536"/>
            <a:ext cx="9966960" cy="457200"/>
          </a:xfrm>
          <a:prstGeom prst="rect">
            <a:avLst/>
          </a:prstGeom>
          <a:noFill/>
          <a:ln/>
        </p:spPr>
        <p:txBody>
          <a:bodyPr wrap="square" lIns="0" tIns="0" rIns="0" bIns="0" rtlCol="0" anchor="ctr"/>
          <a:lstStyle/>
          <a:p>
            <a:pPr indent="0" marL="0">
              <a:lnSpc>
                <a:spcPct val="115000"/>
              </a:lnSpc>
              <a:buNone/>
            </a:pPr>
            <a:r>
              <a:rPr lang="en-US" sz="1250" dirty="0">
                <a:solidFill>
                  <a:srgbClr val="3D2B1F"/>
                </a:solidFill>
                <a:latin typeface="Calibri" pitchFamily="34" charset="0"/>
                <a:ea typeface="Calibri" pitchFamily="34" charset="-122"/>
                <a:cs typeface="Calibri" pitchFamily="34" charset="-120"/>
              </a:rPr>
              <a:t>Organic-only, low-cost, human-in-the-loop — no synthetic inputs, no AI/robotics — because that's Muravah and Tatay's explicit requirement, not what's technologically fashionable.</a:t>
            </a:r>
            <a:endParaRPr lang="en-US" sz="1250" dirty="0"/>
          </a:p>
        </p:txBody>
      </p:sp>
      <p:sp>
        <p:nvSpPr>
          <p:cNvPr id="8" name="Shape 6"/>
          <p:cNvSpPr/>
          <p:nvPr/>
        </p:nvSpPr>
        <p:spPr>
          <a:xfrm>
            <a:off x="548640" y="2743200"/>
            <a:ext cx="457200" cy="457200"/>
          </a:xfrm>
          <a:prstGeom prst="ellipse">
            <a:avLst/>
          </a:prstGeom>
          <a:solidFill>
            <a:srgbClr val="6B7A3D"/>
          </a:solidFill>
          <a:ln/>
        </p:spPr>
      </p:sp>
      <p:sp>
        <p:nvSpPr>
          <p:cNvPr id="9" name="Text 7"/>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234440" y="2688336"/>
            <a:ext cx="9966960" cy="365760"/>
          </a:xfrm>
          <a:prstGeom prst="rect">
            <a:avLst/>
          </a:prstGeom>
          <a:noFill/>
          <a:ln/>
        </p:spPr>
        <p:txBody>
          <a:bodyPr wrap="square" lIns="0" tIns="0" rIns="0" bIns="0" rtlCol="0" anchor="ctr"/>
          <a:lstStyle/>
          <a:p>
            <a:pPr indent="0" marL="0">
              <a:buNone/>
            </a:pPr>
            <a:r>
              <a:rPr lang="en-US" sz="1550" b="1" dirty="0">
                <a:solidFill>
                  <a:srgbClr val="3D2B1F"/>
                </a:solidFill>
                <a:latin typeface="Cambria" pitchFamily="34" charset="0"/>
                <a:ea typeface="Cambria" pitchFamily="34" charset="-122"/>
                <a:cs typeface="Cambria" pitchFamily="34" charset="-120"/>
              </a:rPr>
              <a:t>The single largest lever in the dataset</a:t>
            </a:r>
            <a:endParaRPr lang="en-US" sz="1550" dirty="0"/>
          </a:p>
        </p:txBody>
      </p:sp>
      <p:sp>
        <p:nvSpPr>
          <p:cNvPr id="11" name="Text 9"/>
          <p:cNvSpPr txBox="1"/>
          <p:nvPr/>
        </p:nvSpPr>
        <p:spPr>
          <a:xfrm>
            <a:off x="1234440" y="3054096"/>
            <a:ext cx="9966960" cy="457200"/>
          </a:xfrm>
          <a:prstGeom prst="rect">
            <a:avLst/>
          </a:prstGeom>
          <a:noFill/>
          <a:ln/>
        </p:spPr>
        <p:txBody>
          <a:bodyPr wrap="square" lIns="0" tIns="0" rIns="0" bIns="0" rtlCol="0" anchor="ctr"/>
          <a:lstStyle/>
          <a:p>
            <a:pPr indent="0" marL="0">
              <a:lnSpc>
                <a:spcPct val="115000"/>
              </a:lnSpc>
              <a:buNone/>
            </a:pPr>
            <a:r>
              <a:rPr lang="en-US" sz="1250" dirty="0">
                <a:solidFill>
                  <a:srgbClr val="3D2B1F"/>
                </a:solidFill>
                <a:latin typeface="Calibri" pitchFamily="34" charset="0"/>
                <a:ea typeface="Calibri" pitchFamily="34" charset="-122"/>
                <a:cs typeface="Calibri" pitchFamily="34" charset="-120"/>
              </a:rPr>
              <a:t>If pest/disease pressure comes down, Tatay's own numbers point to a ~4× recovery: 0 kg to a potential 2,000 kg/year.</a:t>
            </a:r>
            <a:endParaRPr lang="en-US" sz="1250" dirty="0"/>
          </a:p>
        </p:txBody>
      </p:sp>
      <p:sp>
        <p:nvSpPr>
          <p:cNvPr id="12" name="Shape 10"/>
          <p:cNvSpPr/>
          <p:nvPr/>
        </p:nvSpPr>
        <p:spPr>
          <a:xfrm>
            <a:off x="548640" y="3794760"/>
            <a:ext cx="457200" cy="457200"/>
          </a:xfrm>
          <a:prstGeom prst="ellipse">
            <a:avLst/>
          </a:prstGeom>
          <a:solidFill>
            <a:srgbClr val="6B7A3D"/>
          </a:solidFill>
          <a:ln/>
        </p:spPr>
      </p:sp>
      <p:sp>
        <p:nvSpPr>
          <p:cNvPr id="13" name="Text 11"/>
          <p:cNvSpPr txBox="1"/>
          <p:nvPr/>
        </p:nvSpPr>
        <p:spPr>
          <a:xfrm>
            <a:off x="548640" y="3794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234440" y="3739896"/>
            <a:ext cx="9966960" cy="365760"/>
          </a:xfrm>
          <a:prstGeom prst="rect">
            <a:avLst/>
          </a:prstGeom>
          <a:noFill/>
          <a:ln/>
        </p:spPr>
        <p:txBody>
          <a:bodyPr wrap="square" lIns="0" tIns="0" rIns="0" bIns="0" rtlCol="0" anchor="ctr"/>
          <a:lstStyle/>
          <a:p>
            <a:pPr indent="0" marL="0">
              <a:buNone/>
            </a:pPr>
            <a:r>
              <a:rPr lang="en-US" sz="1550" b="1" dirty="0">
                <a:solidFill>
                  <a:srgbClr val="3D2B1F"/>
                </a:solidFill>
                <a:latin typeface="Cambria" pitchFamily="34" charset="0"/>
                <a:ea typeface="Cambria" pitchFamily="34" charset="-122"/>
                <a:cs typeface="Cambria" pitchFamily="34" charset="-120"/>
              </a:rPr>
              <a:t>Fixes two problems at once</a:t>
            </a:r>
            <a:endParaRPr lang="en-US" sz="1550" dirty="0"/>
          </a:p>
        </p:txBody>
      </p:sp>
      <p:sp>
        <p:nvSpPr>
          <p:cNvPr id="15" name="Text 13"/>
          <p:cNvSpPr txBox="1"/>
          <p:nvPr/>
        </p:nvSpPr>
        <p:spPr>
          <a:xfrm>
            <a:off x="1234440" y="4105656"/>
            <a:ext cx="9966960" cy="457200"/>
          </a:xfrm>
          <a:prstGeom prst="rect">
            <a:avLst/>
          </a:prstGeom>
          <a:noFill/>
          <a:ln/>
        </p:spPr>
        <p:txBody>
          <a:bodyPr wrap="square" lIns="0" tIns="0" rIns="0" bIns="0" rtlCol="0" anchor="ctr"/>
          <a:lstStyle/>
          <a:p>
            <a:pPr indent="0" marL="0">
              <a:lnSpc>
                <a:spcPct val="115000"/>
              </a:lnSpc>
              <a:buNone/>
            </a:pPr>
            <a:r>
              <a:rPr lang="en-US" sz="1250" dirty="0">
                <a:solidFill>
                  <a:srgbClr val="3D2B1F"/>
                </a:solidFill>
                <a:latin typeface="Calibri" pitchFamily="34" charset="0"/>
                <a:ea typeface="Calibri" pitchFamily="34" charset="-122"/>
                <a:cs typeface="Calibri" pitchFamily="34" charset="-120"/>
              </a:rPr>
              <a:t>Stabilizing farm-level supply also stabilizes the processing facility, currently “sometimes out of supply for cacao” because of these same upstream losses.</a:t>
            </a:r>
            <a:endParaRPr lang="en-US" sz="1250" dirty="0"/>
          </a:p>
        </p:txBody>
      </p:sp>
      <p:sp>
        <p:nvSpPr>
          <p:cNvPr id="16" name="Shape 14"/>
          <p:cNvSpPr/>
          <p:nvPr/>
        </p:nvSpPr>
        <p:spPr>
          <a:xfrm>
            <a:off x="548640" y="4846320"/>
            <a:ext cx="457200" cy="457200"/>
          </a:xfrm>
          <a:prstGeom prst="ellipse">
            <a:avLst/>
          </a:prstGeom>
          <a:solidFill>
            <a:srgbClr val="6B7A3D"/>
          </a:solidFill>
          <a:ln/>
        </p:spPr>
      </p:sp>
      <p:sp>
        <p:nvSpPr>
          <p:cNvPr id="17" name="Text 15"/>
          <p:cNvSpPr txBox="1"/>
          <p:nvPr/>
        </p:nvSpPr>
        <p:spPr>
          <a:xfrm>
            <a:off x="548640" y="4846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234440" y="4791456"/>
            <a:ext cx="9966960" cy="365760"/>
          </a:xfrm>
          <a:prstGeom prst="rect">
            <a:avLst/>
          </a:prstGeom>
          <a:noFill/>
          <a:ln/>
        </p:spPr>
        <p:txBody>
          <a:bodyPr wrap="square" lIns="0" tIns="0" rIns="0" bIns="0" rtlCol="0" anchor="ctr"/>
          <a:lstStyle/>
          <a:p>
            <a:pPr indent="0" marL="0">
              <a:buNone/>
            </a:pPr>
            <a:r>
              <a:rPr lang="en-US" sz="1550" b="1" dirty="0">
                <a:solidFill>
                  <a:srgbClr val="3D2B1F"/>
                </a:solidFill>
                <a:latin typeface="Cambria" pitchFamily="34" charset="0"/>
                <a:ea typeface="Cambria" pitchFamily="34" charset="-122"/>
                <a:cs typeface="Cambria" pitchFamily="34" charset="-120"/>
              </a:rPr>
              <a:t>Nothing invented from scratch</a:t>
            </a:r>
            <a:endParaRPr lang="en-US" sz="1550" dirty="0"/>
          </a:p>
        </p:txBody>
      </p:sp>
      <p:sp>
        <p:nvSpPr>
          <p:cNvPr id="19" name="Text 17"/>
          <p:cNvSpPr txBox="1"/>
          <p:nvPr/>
        </p:nvSpPr>
        <p:spPr>
          <a:xfrm>
            <a:off x="1234440" y="5157216"/>
            <a:ext cx="9966960" cy="457200"/>
          </a:xfrm>
          <a:prstGeom prst="rect">
            <a:avLst/>
          </a:prstGeom>
          <a:noFill/>
          <a:ln/>
        </p:spPr>
        <p:txBody>
          <a:bodyPr wrap="square" lIns="0" tIns="0" rIns="0" bIns="0" rtlCol="0" anchor="ctr"/>
          <a:lstStyle/>
          <a:p>
            <a:pPr indent="0" marL="0">
              <a:lnSpc>
                <a:spcPct val="115000"/>
              </a:lnSpc>
              <a:buNone/>
            </a:pPr>
            <a:r>
              <a:rPr lang="en-US" sz="1250" dirty="0">
                <a:solidFill>
                  <a:srgbClr val="3D2B1F"/>
                </a:solidFill>
                <a:latin typeface="Calibri" pitchFamily="34" charset="0"/>
                <a:ea typeface="Calibri" pitchFamily="34" charset="-122"/>
                <a:cs typeface="Calibri" pitchFamily="34" charset="-120"/>
              </a:rPr>
              <a:t>It's the rice/dairy farm's spray practice and the taro project's schedule discipline, adapted — with caveats stated honestly — to cacao's arboreal, year-round biology.</a:t>
            </a:r>
            <a:endParaRPr lang="en-US" sz="1250" dirty="0"/>
          </a:p>
        </p:txBody>
      </p:sp>
      <p:sp>
        <p:nvSpPr>
          <p:cNvPr id="20" name="Text 18"/>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B85C38"/>
                </a:solidFill>
                <a:latin typeface="Calibri" pitchFamily="34" charset="0"/>
                <a:ea typeface="Calibri" pitchFamily="34" charset="-122"/>
                <a:cs typeface="Calibri" pitchFamily="34" charset="-120"/>
              </a:rPr>
              <a:t>THE INVESTOR GAP</a:t>
            </a:r>
            <a:endParaRPr lang="en-US" sz="1100" dirty="0"/>
          </a:p>
        </p:txBody>
      </p:sp>
      <p:sp>
        <p:nvSpPr>
          <p:cNvPr id="3" name="Text 1"/>
          <p:cNvSpPr txBox="1"/>
          <p:nvPr/>
        </p:nvSpPr>
        <p:spPr>
          <a:xfrm>
            <a:off x="548640" y="777240"/>
            <a:ext cx="11064240" cy="685800"/>
          </a:xfrm>
          <a:prstGeom prst="rect">
            <a:avLst/>
          </a:prstGeom>
          <a:noFill/>
          <a:ln/>
        </p:spPr>
        <p:txBody>
          <a:bodyPr wrap="square" lIns="0" tIns="0" rIns="0" bIns="0" rtlCol="0" anchor="ctr"/>
          <a:lstStyle/>
          <a:p>
            <a:pPr indent="0" marL="0">
              <a:lnSpc>
                <a:spcPct val="105000"/>
              </a:lnSpc>
              <a:buNone/>
            </a:pPr>
            <a:r>
              <a:rPr lang="en-US" sz="2200" b="1" dirty="0">
                <a:solidFill>
                  <a:srgbClr val="3D2B1F"/>
                </a:solidFill>
                <a:latin typeface="Cambria" pitchFamily="34" charset="0"/>
                <a:ea typeface="Cambria" pitchFamily="34" charset="-122"/>
                <a:cs typeface="Cambria" pitchFamily="34" charset="-120"/>
              </a:rPr>
              <a:t>Tatay's own words: “a pilot study and investors would be needed”</a:t>
            </a:r>
            <a:endParaRPr lang="en-US" sz="2200" dirty="0"/>
          </a:p>
        </p:txBody>
      </p:sp>
      <p:sp>
        <p:nvSpPr>
          <p:cNvPr id="4" name="Text 2"/>
          <p:cNvSpPr txBox="1"/>
          <p:nvPr/>
        </p:nvSpPr>
        <p:spPr>
          <a:xfrm>
            <a:off x="548640" y="1508760"/>
            <a:ext cx="11064240" cy="365760"/>
          </a:xfrm>
          <a:prstGeom prst="rect">
            <a:avLst/>
          </a:prstGeom>
          <a:noFill/>
          <a:ln/>
        </p:spPr>
        <p:txBody>
          <a:bodyPr wrap="square" lIns="0" tIns="0" rIns="0" bIns="0" rtlCol="0" anchor="ctr"/>
          <a:lstStyle/>
          <a:p>
            <a:pPr indent="0" marL="0">
              <a:buNone/>
            </a:pPr>
            <a:r>
              <a:rPr lang="en-US" sz="1300" i="1" dirty="0">
                <a:solidFill>
                  <a:srgbClr val="6B5745"/>
                </a:solidFill>
                <a:latin typeface="Calibri" pitchFamily="34" charset="0"/>
                <a:ea typeface="Calibri" pitchFamily="34" charset="-122"/>
                <a:cs typeface="Calibri" pitchFamily="34" charset="-120"/>
              </a:rPr>
              <a:t>Three concrete ways to help Tatay find investors:</a:t>
            </a:r>
            <a:endParaRPr lang="en-US" sz="1300" dirty="0"/>
          </a:p>
        </p:txBody>
      </p:sp>
      <p:sp>
        <p:nvSpPr>
          <p:cNvPr id="5" name="Shape 3"/>
          <p:cNvSpPr/>
          <p:nvPr/>
        </p:nvSpPr>
        <p:spPr>
          <a:xfrm>
            <a:off x="548640" y="2148840"/>
            <a:ext cx="457200" cy="457200"/>
          </a:xfrm>
          <a:prstGeom prst="ellipse">
            <a:avLst/>
          </a:prstGeom>
          <a:solidFill>
            <a:srgbClr val="B85C38"/>
          </a:solidFill>
          <a:ln/>
        </p:spPr>
      </p:sp>
      <p:sp>
        <p:nvSpPr>
          <p:cNvPr id="6" name="Text 4"/>
          <p:cNvSpPr txBox="1"/>
          <p:nvPr/>
        </p:nvSpPr>
        <p:spPr>
          <a:xfrm>
            <a:off x="548640" y="2148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234440" y="2093976"/>
            <a:ext cx="9966960" cy="411480"/>
          </a:xfrm>
          <a:prstGeom prst="rect">
            <a:avLst/>
          </a:prstGeom>
          <a:noFill/>
          <a:ln/>
        </p:spPr>
        <p:txBody>
          <a:bodyPr wrap="square" lIns="0" tIns="0" rIns="0" bIns="0" rtlCol="0" anchor="ctr"/>
          <a:lstStyle/>
          <a:p>
            <a:pPr indent="0" marL="0">
              <a:buNone/>
            </a:pPr>
            <a:r>
              <a:rPr lang="en-US" sz="1600" b="1" dirty="0">
                <a:solidFill>
                  <a:srgbClr val="3D2B1F"/>
                </a:solidFill>
                <a:latin typeface="Cambria" pitchFamily="34" charset="0"/>
                <a:ea typeface="Cambria" pitchFamily="34" charset="-122"/>
                <a:cs typeface="Cambria" pitchFamily="34" charset="-120"/>
              </a:rPr>
              <a:t>Point to the regional funding precedent</a:t>
            </a:r>
            <a:endParaRPr lang="en-US" sz="1600" dirty="0"/>
          </a:p>
        </p:txBody>
      </p:sp>
      <p:sp>
        <p:nvSpPr>
          <p:cNvPr id="8" name="Text 6"/>
          <p:cNvSpPr txBox="1"/>
          <p:nvPr/>
        </p:nvSpPr>
        <p:spPr>
          <a:xfrm>
            <a:off x="1234440" y="2514600"/>
            <a:ext cx="9966960" cy="640080"/>
          </a:xfrm>
          <a:prstGeom prst="rect">
            <a:avLst/>
          </a:prstGeom>
          <a:noFill/>
          <a:ln/>
        </p:spPr>
        <p:txBody>
          <a:bodyPr wrap="square" lIns="0" tIns="0" rIns="0" bIns="0" rtlCol="0" anchor="ctr"/>
          <a:lstStyle/>
          <a:p>
            <a:pPr indent="0" marL="0">
              <a:lnSpc>
                <a:spcPct val="120000"/>
              </a:lnSpc>
              <a:buNone/>
            </a:pPr>
            <a:r>
              <a:rPr lang="en-US" sz="1250" dirty="0">
                <a:solidFill>
                  <a:srgbClr val="3D2B1F"/>
                </a:solidFill>
                <a:latin typeface="Calibri" pitchFamily="34" charset="0"/>
                <a:ea typeface="Calibri" pitchFamily="34" charset="-122"/>
                <a:cs typeface="Calibri" pitchFamily="34" charset="-120"/>
              </a:rPr>
              <a:t>The Zambales solar farm secured ₱10M for a comparable-scale agri-infrastructure pilot — concrete proof that regional agri-tech investment appetite exists, and a benchmark to pitch against.</a:t>
            </a:r>
            <a:endParaRPr lang="en-US" sz="1250" dirty="0"/>
          </a:p>
        </p:txBody>
      </p:sp>
      <p:sp>
        <p:nvSpPr>
          <p:cNvPr id="9" name="Shape 7"/>
          <p:cNvSpPr/>
          <p:nvPr/>
        </p:nvSpPr>
        <p:spPr>
          <a:xfrm>
            <a:off x="548640" y="3383280"/>
            <a:ext cx="457200" cy="457200"/>
          </a:xfrm>
          <a:prstGeom prst="ellipse">
            <a:avLst/>
          </a:prstGeom>
          <a:solidFill>
            <a:srgbClr val="B85C38"/>
          </a:solidFill>
          <a:ln/>
        </p:spPr>
      </p:sp>
      <p:sp>
        <p:nvSpPr>
          <p:cNvPr id="10" name="Text 8"/>
          <p:cNvSpPr txBox="1"/>
          <p:nvPr/>
        </p:nvSpPr>
        <p:spPr>
          <a:xfrm>
            <a:off x="548640" y="3383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234440" y="3328416"/>
            <a:ext cx="9966960" cy="411480"/>
          </a:xfrm>
          <a:prstGeom prst="rect">
            <a:avLst/>
          </a:prstGeom>
          <a:noFill/>
          <a:ln/>
        </p:spPr>
        <p:txBody>
          <a:bodyPr wrap="square" lIns="0" tIns="0" rIns="0" bIns="0" rtlCol="0" anchor="ctr"/>
          <a:lstStyle/>
          <a:p>
            <a:pPr indent="0" marL="0">
              <a:buNone/>
            </a:pPr>
            <a:r>
              <a:rPr lang="en-US" sz="1600" b="1" dirty="0">
                <a:solidFill>
                  <a:srgbClr val="3D2B1F"/>
                </a:solidFill>
                <a:latin typeface="Cambria" pitchFamily="34" charset="0"/>
                <a:ea typeface="Cambria" pitchFamily="34" charset="-122"/>
                <a:cs typeface="Cambria" pitchFamily="34" charset="-120"/>
              </a:rPr>
              <a:t>Package the pilot inside Muravah's existing study</a:t>
            </a:r>
            <a:endParaRPr lang="en-US" sz="1600" dirty="0"/>
          </a:p>
        </p:txBody>
      </p:sp>
      <p:sp>
        <p:nvSpPr>
          <p:cNvPr id="12" name="Text 10"/>
          <p:cNvSpPr txBox="1"/>
          <p:nvPr/>
        </p:nvSpPr>
        <p:spPr>
          <a:xfrm>
            <a:off x="1234440" y="3749040"/>
            <a:ext cx="9966960" cy="640080"/>
          </a:xfrm>
          <a:prstGeom prst="rect">
            <a:avLst/>
          </a:prstGeom>
          <a:noFill/>
          <a:ln/>
        </p:spPr>
        <p:txBody>
          <a:bodyPr wrap="square" lIns="0" tIns="0" rIns="0" bIns="0" rtlCol="0" anchor="ctr"/>
          <a:lstStyle/>
          <a:p>
            <a:pPr indent="0" marL="0">
              <a:lnSpc>
                <a:spcPct val="120000"/>
              </a:lnSpc>
              <a:buNone/>
            </a:pPr>
            <a:r>
              <a:rPr lang="en-US" sz="1250" dirty="0">
                <a:solidFill>
                  <a:srgbClr val="3D2B1F"/>
                </a:solidFill>
                <a:latin typeface="Calibri" pitchFamily="34" charset="0"/>
                <a:ea typeface="Calibri" pitchFamily="34" charset="-122"/>
                <a:cs typeface="Calibri" pitchFamily="34" charset="-120"/>
              </a:rPr>
              <a:t>Fold Tatay's pilot into Muravah's 500–1,000-farmer production-cycle study already underway — investors get an established NGO's track record and scale behind one farmer's ask, not a lone request.</a:t>
            </a:r>
            <a:endParaRPr lang="en-US" sz="1250" dirty="0"/>
          </a:p>
        </p:txBody>
      </p:sp>
      <p:sp>
        <p:nvSpPr>
          <p:cNvPr id="13" name="Shape 11"/>
          <p:cNvSpPr/>
          <p:nvPr/>
        </p:nvSpPr>
        <p:spPr>
          <a:xfrm>
            <a:off x="548640" y="4617720"/>
            <a:ext cx="457200" cy="457200"/>
          </a:xfrm>
          <a:prstGeom prst="ellipse">
            <a:avLst/>
          </a:prstGeom>
          <a:solidFill>
            <a:srgbClr val="B85C38"/>
          </a:solidFill>
          <a:ln/>
        </p:spPr>
      </p:sp>
      <p:sp>
        <p:nvSpPr>
          <p:cNvPr id="14" name="Text 12"/>
          <p:cNvSpPr txBox="1"/>
          <p:nvPr/>
        </p:nvSpPr>
        <p:spPr>
          <a:xfrm>
            <a:off x="548640" y="4617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234440" y="4562856"/>
            <a:ext cx="9966960" cy="411480"/>
          </a:xfrm>
          <a:prstGeom prst="rect">
            <a:avLst/>
          </a:prstGeom>
          <a:noFill/>
          <a:ln/>
        </p:spPr>
        <p:txBody>
          <a:bodyPr wrap="square" lIns="0" tIns="0" rIns="0" bIns="0" rtlCol="0" anchor="ctr"/>
          <a:lstStyle/>
          <a:p>
            <a:pPr indent="0" marL="0">
              <a:buNone/>
            </a:pPr>
            <a:r>
              <a:rPr lang="en-US" sz="1600" b="1" dirty="0">
                <a:solidFill>
                  <a:srgbClr val="3D2B1F"/>
                </a:solidFill>
                <a:latin typeface="Cambria" pitchFamily="34" charset="0"/>
                <a:ea typeface="Cambria" pitchFamily="34" charset="-122"/>
                <a:cs typeface="Cambria" pitchFamily="34" charset="-120"/>
              </a:rPr>
              <a:t>Lead with the organic price-premium ROI story</a:t>
            </a:r>
            <a:endParaRPr lang="en-US" sz="1600" dirty="0"/>
          </a:p>
        </p:txBody>
      </p:sp>
      <p:sp>
        <p:nvSpPr>
          <p:cNvPr id="16" name="Text 14"/>
          <p:cNvSpPr txBox="1"/>
          <p:nvPr/>
        </p:nvSpPr>
        <p:spPr>
          <a:xfrm>
            <a:off x="1234440" y="4983480"/>
            <a:ext cx="9966960" cy="640080"/>
          </a:xfrm>
          <a:prstGeom prst="rect">
            <a:avLst/>
          </a:prstGeom>
          <a:noFill/>
          <a:ln/>
        </p:spPr>
        <p:txBody>
          <a:bodyPr wrap="square" lIns="0" tIns="0" rIns="0" bIns="0" rtlCol="0" anchor="ctr"/>
          <a:lstStyle/>
          <a:p>
            <a:pPr indent="0" marL="0">
              <a:lnSpc>
                <a:spcPct val="120000"/>
              </a:lnSpc>
              <a:buNone/>
            </a:pPr>
            <a:r>
              <a:rPr lang="en-US" sz="1250" dirty="0">
                <a:solidFill>
                  <a:srgbClr val="3D2B1F"/>
                </a:solidFill>
                <a:latin typeface="Calibri" pitchFamily="34" charset="0"/>
                <a:ea typeface="Calibri" pitchFamily="34" charset="-122"/>
                <a:cs typeface="Calibri" pitchFamily="34" charset="-120"/>
              </a:rPr>
              <a:t>Frame the ask as bridge capital toward organic/export certification: a projected 4× yield recovery plus a price premium is a concrete return case, not just a request for aid.</a:t>
            </a:r>
            <a:endParaRPr lang="en-US" sz="1250" dirty="0"/>
          </a:p>
        </p:txBody>
      </p:sp>
      <p:sp>
        <p:nvSpPr>
          <p:cNvPr id="17" name="Text 15"/>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41209"/>
        </a:solidFill>
      </p:bgPr>
    </p:bg>
    <p:spTree>
      <p:nvGrpSpPr>
        <p:cNvPr id="1" name=""/>
        <p:cNvGrpSpPr/>
        <p:nvPr/>
      </p:nvGrpSpPr>
      <p:grpSpPr>
        <a:xfrm>
          <a:off x="0" y="0"/>
          <a:ext cx="0" cy="0"/>
          <a:chOff x="0" y="0"/>
          <a:chExt cx="0" cy="0"/>
        </a:xfrm>
      </p:grpSpPr>
      <p:sp>
        <p:nvSpPr>
          <p:cNvPr id="2" name="Shape 0"/>
          <p:cNvSpPr/>
          <p:nvPr/>
        </p:nvSpPr>
        <p:spPr>
          <a:xfrm>
            <a:off x="-2743200" y="3200400"/>
            <a:ext cx="6400800" cy="6400800"/>
          </a:xfrm>
          <a:prstGeom prst="ellipse">
            <a:avLst/>
          </a:prstGeom>
          <a:solidFill>
            <a:srgbClr val="B85C38">
              <a:alpha val="85000"/>
            </a:srgbClr>
          </a:solidFill>
          <a:ln/>
        </p:spPr>
      </p:sp>
      <p:sp>
        <p:nvSpPr>
          <p:cNvPr id="3" name="Text 1"/>
          <p:cNvSpPr txBox="1"/>
          <p:nvPr/>
        </p:nvSpPr>
        <p:spPr>
          <a:xfrm>
            <a:off x="548640" y="411480"/>
            <a:ext cx="9144000" cy="320040"/>
          </a:xfrm>
          <a:prstGeom prst="rect">
            <a:avLst/>
          </a:prstGeom>
          <a:noFill/>
          <a:ln/>
        </p:spPr>
        <p:txBody>
          <a:bodyPr wrap="square" lIns="0" tIns="0" rIns="0" bIns="0" rtlCol="0" anchor="ctr"/>
          <a:lstStyle/>
          <a:p>
            <a:pPr indent="0" marL="0">
              <a:buNone/>
            </a:pPr>
            <a:r>
              <a:rPr lang="en-US" sz="1100" b="1" spc="200" kern="0" dirty="0">
                <a:solidFill>
                  <a:srgbClr val="D9A441"/>
                </a:solidFill>
                <a:latin typeface="Calibri" pitchFamily="34" charset="0"/>
                <a:ea typeface="Calibri" pitchFamily="34" charset="-122"/>
                <a:cs typeface="Calibri" pitchFamily="34" charset="-120"/>
              </a:rPr>
              <a:t>THANK YOU</a:t>
            </a:r>
            <a:endParaRPr lang="en-US" sz="1100" dirty="0"/>
          </a:p>
        </p:txBody>
      </p:sp>
      <p:sp>
        <p:nvSpPr>
          <p:cNvPr id="4" name="Text 2"/>
          <p:cNvSpPr txBox="1"/>
          <p:nvPr/>
        </p:nvSpPr>
        <p:spPr>
          <a:xfrm>
            <a:off x="548640" y="2286000"/>
            <a:ext cx="10972800" cy="914400"/>
          </a:xfrm>
          <a:prstGeom prst="rect">
            <a:avLst/>
          </a:prstGeom>
          <a:noFill/>
          <a:ln/>
        </p:spPr>
        <p:txBody>
          <a:bodyPr wrap="square" lIns="0" tIns="0" rIns="0" bIns="0" rtlCol="0" anchor="ctr"/>
          <a:lstStyle/>
          <a:p>
            <a:pPr indent="0" marL="0">
              <a:buNone/>
            </a:pPr>
            <a:r>
              <a:rPr lang="en-US" sz="3800" b="1" dirty="0">
                <a:solidFill>
                  <a:srgbClr val="F7F2EA"/>
                </a:solidFill>
                <a:latin typeface="Cambria" pitchFamily="34" charset="0"/>
                <a:ea typeface="Cambria" pitchFamily="34" charset="-122"/>
                <a:cs typeface="Cambria" pitchFamily="34" charset="-120"/>
              </a:rPr>
              <a:t>Maraming salamat sa pakikinig</a:t>
            </a:r>
            <a:endParaRPr lang="en-US" sz="3800" dirty="0"/>
          </a:p>
        </p:txBody>
      </p:sp>
      <p:sp>
        <p:nvSpPr>
          <p:cNvPr id="5" name="Text 3"/>
          <p:cNvSpPr txBox="1"/>
          <p:nvPr/>
        </p:nvSpPr>
        <p:spPr>
          <a:xfrm>
            <a:off x="548640" y="3246120"/>
            <a:ext cx="10972800" cy="914400"/>
          </a:xfrm>
          <a:prstGeom prst="rect">
            <a:avLst/>
          </a:prstGeom>
          <a:noFill/>
          <a:ln/>
        </p:spPr>
        <p:txBody>
          <a:bodyPr wrap="square" lIns="0" tIns="0" rIns="0" bIns="0" rtlCol="0" anchor="ctr"/>
          <a:lstStyle/>
          <a:p>
            <a:pPr indent="0" marL="0">
              <a:buNone/>
            </a:pPr>
            <a:r>
              <a:rPr lang="en-US" sz="3400" b="1" dirty="0">
                <a:solidFill>
                  <a:srgbClr val="D9A441"/>
                </a:solidFill>
                <a:latin typeface="Cambria" pitchFamily="34" charset="0"/>
                <a:ea typeface="Cambria" pitchFamily="34" charset="-122"/>
                <a:cs typeface="Cambria" pitchFamily="34" charset="-120"/>
              </a:rPr>
              <a:t>ご清聴ありがとうございました</a:t>
            </a:r>
            <a:endParaRPr lang="en-US" sz="3400" dirty="0"/>
          </a:p>
        </p:txBody>
      </p:sp>
      <p:sp>
        <p:nvSpPr>
          <p:cNvPr id="6" name="Text 4"/>
          <p:cNvSpPr txBox="1"/>
          <p:nvPr/>
        </p:nvSpPr>
        <p:spPr>
          <a:xfrm>
            <a:off x="548640" y="4251960"/>
            <a:ext cx="7315200" cy="457200"/>
          </a:xfrm>
          <a:prstGeom prst="rect">
            <a:avLst/>
          </a:prstGeom>
          <a:noFill/>
          <a:ln/>
        </p:spPr>
        <p:txBody>
          <a:bodyPr wrap="square" lIns="0" tIns="0" rIns="0" bIns="0" rtlCol="0" anchor="ctr"/>
          <a:lstStyle/>
          <a:p>
            <a:pPr indent="0" marL="0">
              <a:buNone/>
            </a:pPr>
            <a:r>
              <a:rPr lang="en-US" sz="1400" i="1" dirty="0">
                <a:solidFill>
                  <a:srgbClr val="C9BEB0"/>
                </a:solidFill>
                <a:latin typeface="Calibri" pitchFamily="34" charset="0"/>
                <a:ea typeface="Calibri" pitchFamily="34" charset="-122"/>
                <a:cs typeface="Calibri" pitchFamily="34" charset="-120"/>
              </a:rPr>
              <a:t>Thank you for listening.</a:t>
            </a:r>
            <a:endParaRPr lang="en-US" sz="1400" dirty="0"/>
          </a:p>
        </p:txBody>
      </p:sp>
      <p:sp>
        <p:nvSpPr>
          <p:cNvPr id="7" name="Text 5"/>
          <p:cNvSpPr txBox="1"/>
          <p:nvPr/>
        </p:nvSpPr>
        <p:spPr>
          <a:xfrm>
            <a:off x="548640" y="5989320"/>
            <a:ext cx="5486400" cy="320040"/>
          </a:xfrm>
          <a:prstGeom prst="rect">
            <a:avLst/>
          </a:prstGeom>
          <a:noFill/>
          <a:ln/>
        </p:spPr>
        <p:txBody>
          <a:bodyPr wrap="square" lIns="0" tIns="0" rIns="0" bIns="0" rtlCol="0" anchor="ctr"/>
          <a:lstStyle/>
          <a:p>
            <a:pPr indent="0" marL="0">
              <a:buNone/>
            </a:pPr>
            <a:r>
              <a:rPr lang="en-US" sz="1100" dirty="0">
                <a:solidFill>
                  <a:srgbClr val="C9BEB0"/>
                </a:solidFill>
                <a:latin typeface="Calibri" pitchFamily="34" charset="0"/>
                <a:ea typeface="Calibri" pitchFamily="34" charset="-122"/>
                <a:cs typeface="Calibri" pitchFamily="34" charset="-120"/>
              </a:rPr>
              <a:t>Nancy · Masa · Keisuke · Ria · Ash · Chow</a:t>
            </a:r>
            <a:endParaRPr lang="en-US" sz="1100" dirty="0"/>
          </a:p>
        </p:txBody>
      </p:sp>
      <p:sp>
        <p:nvSpPr>
          <p:cNvPr id="8" name="Text 6"/>
          <p:cNvSpPr txBox="1"/>
          <p:nvPr/>
        </p:nvSpPr>
        <p:spPr>
          <a:xfrm>
            <a:off x="10972800" y="6446520"/>
            <a:ext cx="1005840" cy="274320"/>
          </a:xfrm>
          <a:prstGeom prst="rect">
            <a:avLst/>
          </a:prstGeom>
          <a:noFill/>
          <a:ln/>
        </p:spPr>
        <p:txBody>
          <a:bodyPr wrap="square" lIns="0" tIns="0" rIns="0" bIns="0" rtlCol="0" anchor="ctr"/>
          <a:lstStyle/>
          <a:p>
            <a:pPr algn="r" indent="0" marL="0">
              <a:buNone/>
            </a:pPr>
            <a:r>
              <a:rPr lang="en-US" sz="900" dirty="0">
                <a:solidFill>
                  <a:srgbClr val="6B5745"/>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2026-08-30T08:23:52Z</dcterms:created>
  <dcterms:modified xsi:type="dcterms:W3CDTF">2026-08-30T08:23:52Z</dcterms:modified>
</cp:coreProperties>
</file>